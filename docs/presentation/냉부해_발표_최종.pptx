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6858000" cx="12191675"/>
  <p:notesSz cx="6858000" cy="9144000"/>
  <p:embeddedFontLs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ieh+NHhYutazSneCvo8hoeJPqB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font" Target="fonts/QuattrocentoSans-regular.fntdata"/><Relationship Id="rId26" Type="http://schemas.openxmlformats.org/officeDocument/2006/relationships/font" Target="fonts/QuattrocentoSans-bold.fntdata"/><Relationship Id="rId27" Type="http://schemas.openxmlformats.org/officeDocument/2006/relationships/font" Target="fonts/QuattrocentoSans-italic.fntdata"/><Relationship Id="rId28" Type="http://schemas.openxmlformats.org/officeDocument/2006/relationships/font" Target="fonts/QuattrocentoSans-boldItalic.fntdata"/><Relationship Id="rId2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16c2b774f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16c2b774f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16c2b774f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16c2b774f_3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16c2b774f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16c2b774f_3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16c2b774f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16c2b774f_3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de1b5ec3f_1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de1b5ec3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16c2b774f_3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16c2b774f_3_1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16c2b774f_3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16c2b774f_3_2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16c2b774f_3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f16c2b774f_3_2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de1b5ec3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ede1b5ec3f_10_0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16c2b774f_3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f16c2b774f_3_2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16c2b774f_3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16c2b774f_3_2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16c2b774f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16c2b774f_3_3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16c2b774f_3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f16c2b774f_3_3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16c2b774f_3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f16c2b774f_3_3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de1b5ec3f_8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ede1b5ec3f_8_75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16c2b774f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f16c2b774f_3_3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16c2b774f_3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f16c2b774f_3_4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64e12b99_17_0)">
  <p:cSld name="Generated (g3f164e12b99_1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16c2b774f_3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16c2b774f_3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16c2b774f_3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16c2b774f_3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f16c2b774f_3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g3f16c2b774f_3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16c2b774f_3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16c2b774f_3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16c2b774f_3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f16c2b774f_3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g3f16c2b774f_3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f16c2b774f_3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f16c2b774f_3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6c2b774f_3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f16c2b774f_3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g3f16c2b774f_3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16c2b774f_3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f16c2b774f_3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16c2b774f_3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f16c2b774f_3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f16c2b774f_3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g3f16c2b774f_3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16c2b774f_3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16c2b774f_3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16c2b774f_3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16c2b774f_3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g3f16c2b774f_3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0" name="Google Shape;120;g3f16c2b774f_3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g3f16c2b774f_3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2" name="Google Shape;122;g3f16c2b774f_3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16c2b774f_3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f16c2b774f_3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16c2b774f_3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16c2b774f_3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16c2b774f_3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f16c2b774f_3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16c2b774f_3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f16c2b774f_3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g3f16c2b774f_3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g3f16c2b774f_3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f16c2b774f_3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16c2b774f_3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6c2b774f_3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f16c2b774f_3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g3f16c2b774f_3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g3f16c2b774f_3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f16c2b774f_3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f16c2b774f_3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6c2b774f_3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f16c2b774f_3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g3f16c2b774f_3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16c2b774f_3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f16c2b774f_3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6c2b774f_3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f16c2b774f_3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g3f16c2b774f_3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16c2b774f_3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f16c2b774f_3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de1b5ec3f_8_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ede1b5ec3f_8_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ede1b5ec3f_8_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de1b5ec3f_8_10"/>
          <p:cNvSpPr txBox="1"/>
          <p:nvPr>
            <p:ph type="ctrTitle"/>
          </p:nvPr>
        </p:nvSpPr>
        <p:spPr>
          <a:xfrm>
            <a:off x="685782" y="2130425"/>
            <a:ext cx="777219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de1b5ec3f_8_10"/>
          <p:cNvSpPr txBox="1"/>
          <p:nvPr>
            <p:ph idx="1" type="subTitle"/>
          </p:nvPr>
        </p:nvSpPr>
        <p:spPr>
          <a:xfrm>
            <a:off x="1371563" y="3886200"/>
            <a:ext cx="640062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g3ede1b5ec3f_8_10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ede1b5ec3f_8_10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ede1b5ec3f_8_10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e1b5ec3f_8_16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ede1b5ec3f_8_16"/>
          <p:cNvSpPr txBox="1"/>
          <p:nvPr>
            <p:ph idx="1" type="body"/>
          </p:nvPr>
        </p:nvSpPr>
        <p:spPr>
          <a:xfrm>
            <a:off x="457188" y="1600200"/>
            <a:ext cx="822938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g3ede1b5ec3f_8_1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ede1b5ec3f_8_1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ede1b5ec3f_8_1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de1b5ec3f_8_22"/>
          <p:cNvSpPr txBox="1"/>
          <p:nvPr>
            <p:ph type="title"/>
          </p:nvPr>
        </p:nvSpPr>
        <p:spPr>
          <a:xfrm>
            <a:off x="722294" y="4406900"/>
            <a:ext cx="7772193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ede1b5ec3f_8_22"/>
          <p:cNvSpPr txBox="1"/>
          <p:nvPr>
            <p:ph idx="1" type="body"/>
          </p:nvPr>
        </p:nvSpPr>
        <p:spPr>
          <a:xfrm>
            <a:off x="722294" y="2906713"/>
            <a:ext cx="777219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1" name="Google Shape;181;g3ede1b5ec3f_8_22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ede1b5ec3f_8_22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ede1b5ec3f_8_22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de1b5ec3f_8_28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ede1b5ec3f_8_28"/>
          <p:cNvSpPr txBox="1"/>
          <p:nvPr>
            <p:ph idx="1" type="body"/>
          </p:nvPr>
        </p:nvSpPr>
        <p:spPr>
          <a:xfrm>
            <a:off x="457188" y="1600200"/>
            <a:ext cx="4038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g3ede1b5ec3f_8_28"/>
          <p:cNvSpPr txBox="1"/>
          <p:nvPr>
            <p:ph idx="2" type="body"/>
          </p:nvPr>
        </p:nvSpPr>
        <p:spPr>
          <a:xfrm>
            <a:off x="4648076" y="1600200"/>
            <a:ext cx="4038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8" name="Google Shape;188;g3ede1b5ec3f_8_28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ede1b5ec3f_8_28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ede1b5ec3f_8_28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e1b5ec3f_8_35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ede1b5ec3f_8_35"/>
          <p:cNvSpPr txBox="1"/>
          <p:nvPr>
            <p:ph idx="1" type="body"/>
          </p:nvPr>
        </p:nvSpPr>
        <p:spPr>
          <a:xfrm>
            <a:off x="457188" y="1535113"/>
            <a:ext cx="404008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4" name="Google Shape;194;g3ede1b5ec3f_8_35"/>
          <p:cNvSpPr txBox="1"/>
          <p:nvPr>
            <p:ph idx="2" type="body"/>
          </p:nvPr>
        </p:nvSpPr>
        <p:spPr>
          <a:xfrm>
            <a:off x="457188" y="2174875"/>
            <a:ext cx="404008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5" name="Google Shape;195;g3ede1b5ec3f_8_35"/>
          <p:cNvSpPr txBox="1"/>
          <p:nvPr>
            <p:ph idx="3" type="body"/>
          </p:nvPr>
        </p:nvSpPr>
        <p:spPr>
          <a:xfrm>
            <a:off x="4644901" y="1535113"/>
            <a:ext cx="404166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g3ede1b5ec3f_8_35"/>
          <p:cNvSpPr txBox="1"/>
          <p:nvPr>
            <p:ph idx="4" type="body"/>
          </p:nvPr>
        </p:nvSpPr>
        <p:spPr>
          <a:xfrm>
            <a:off x="4644901" y="2174875"/>
            <a:ext cx="404166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7" name="Google Shape;197;g3ede1b5ec3f_8_35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3ede1b5ec3f_8_35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ede1b5ec3f_8_35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de1b5ec3f_8_44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ede1b5ec3f_8_44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ede1b5ec3f_8_44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ede1b5ec3f_8_44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de1b5ec3f_8_49"/>
          <p:cNvSpPr txBox="1"/>
          <p:nvPr>
            <p:ph type="title"/>
          </p:nvPr>
        </p:nvSpPr>
        <p:spPr>
          <a:xfrm>
            <a:off x="457188" y="273050"/>
            <a:ext cx="300823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ede1b5ec3f_8_49"/>
          <p:cNvSpPr txBox="1"/>
          <p:nvPr>
            <p:ph idx="1" type="body"/>
          </p:nvPr>
        </p:nvSpPr>
        <p:spPr>
          <a:xfrm>
            <a:off x="3574955" y="273050"/>
            <a:ext cx="5111614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8" name="Google Shape;208;g3ede1b5ec3f_8_49"/>
          <p:cNvSpPr txBox="1"/>
          <p:nvPr>
            <p:ph idx="2" type="body"/>
          </p:nvPr>
        </p:nvSpPr>
        <p:spPr>
          <a:xfrm>
            <a:off x="457188" y="1435100"/>
            <a:ext cx="300823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g3ede1b5ec3f_8_49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ede1b5ec3f_8_49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ede1b5ec3f_8_49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de1b5ec3f_8_56"/>
          <p:cNvSpPr txBox="1"/>
          <p:nvPr>
            <p:ph type="title"/>
          </p:nvPr>
        </p:nvSpPr>
        <p:spPr>
          <a:xfrm>
            <a:off x="1792240" y="4800600"/>
            <a:ext cx="548625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ede1b5ec3f_8_56"/>
          <p:cNvSpPr/>
          <p:nvPr>
            <p:ph idx="2" type="pic"/>
          </p:nvPr>
        </p:nvSpPr>
        <p:spPr>
          <a:xfrm>
            <a:off x="1792240" y="612775"/>
            <a:ext cx="5486254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g3ede1b5ec3f_8_56"/>
          <p:cNvSpPr txBox="1"/>
          <p:nvPr>
            <p:ph idx="1" type="body"/>
          </p:nvPr>
        </p:nvSpPr>
        <p:spPr>
          <a:xfrm>
            <a:off x="1792240" y="5367338"/>
            <a:ext cx="5486254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6" name="Google Shape;216;g3ede1b5ec3f_8_5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ede1b5ec3f_8_5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ede1b5ec3f_8_5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e1b5ec3f_8_63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3ede1b5ec3f_8_63"/>
          <p:cNvSpPr txBox="1"/>
          <p:nvPr>
            <p:ph idx="1" type="body"/>
          </p:nvPr>
        </p:nvSpPr>
        <p:spPr>
          <a:xfrm rot="5400000">
            <a:off x="2308897" y="-251509"/>
            <a:ext cx="4525963" cy="8229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g3ede1b5ec3f_8_63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ede1b5ec3f_8_63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g3ede1b5ec3f_8_63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de1b5ec3f_8_69"/>
          <p:cNvSpPr txBox="1"/>
          <p:nvPr>
            <p:ph type="title"/>
          </p:nvPr>
        </p:nvSpPr>
        <p:spPr>
          <a:xfrm rot="5400000">
            <a:off x="4732133" y="2171728"/>
            <a:ext cx="5851525" cy="2057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3ede1b5ec3f_8_69"/>
          <p:cNvSpPr txBox="1"/>
          <p:nvPr>
            <p:ph idx="1" type="body"/>
          </p:nvPr>
        </p:nvSpPr>
        <p:spPr>
          <a:xfrm rot="5400000">
            <a:off x="541245" y="190581"/>
            <a:ext cx="5851525" cy="601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g3ede1b5ec3f_8_69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ede1b5ec3f_8_69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ede1b5ec3f_8_69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16c2b774f_3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g3f16c2b774f_3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f16c2b774f_3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f16c2b774f_3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g3f16c2b774f_3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de1b5ec3f_8_0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8" name="Google Shape;158;g3ede1b5ec3f_8_0"/>
          <p:cNvSpPr txBox="1"/>
          <p:nvPr>
            <p:ph idx="1" type="body"/>
          </p:nvPr>
        </p:nvSpPr>
        <p:spPr>
          <a:xfrm>
            <a:off x="457188" y="1600200"/>
            <a:ext cx="822938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g3ede1b5ec3f_8_0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g3ede1b5ec3f_8_0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g3ede1b5ec3f_8_0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7.jpg"/><Relationship Id="rId5" Type="http://schemas.openxmlformats.org/officeDocument/2006/relationships/image" Target="../media/image1.jpg"/><Relationship Id="rId6" Type="http://schemas.openxmlformats.org/officeDocument/2006/relationships/image" Target="../media/image4.jpg"/><Relationship Id="rId7" Type="http://schemas.openxmlformats.org/officeDocument/2006/relationships/image" Target="../media/image2.jpg"/><Relationship Id="rId8" Type="http://schemas.openxmlformats.org/officeDocument/2006/relationships/image" Target="../media/image3.jpg"/><Relationship Id="rId9" Type="http://schemas.openxmlformats.org/officeDocument/2006/relationships/image" Target="../media/image12.jpg"/><Relationship Id="rId10" Type="http://schemas.openxmlformats.org/officeDocument/2006/relationships/image" Target="../media/image8.jpg"/><Relationship Id="rId11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naengbuhae-hazel.vercel.app/login" TargetMode="External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hyperlink" Target="https://github.com/MONBRUNO/Naengbuhae_App" TargetMode="External"/><Relationship Id="rId5" Type="http://schemas.openxmlformats.org/officeDocument/2006/relationships/hyperlink" Target="https://github.com/impactice/Naengbuhae_Team/tree/main" TargetMode="External"/><Relationship Id="rId6" Type="http://schemas.openxmlformats.org/officeDocument/2006/relationships/hyperlink" Target="https://github.com/impactice/Naengbuhae_Team_backend/tree/develop" TargetMode="External"/><Relationship Id="rId7" Type="http://schemas.openxmlformats.org/officeDocument/2006/relationships/hyperlink" Target="https://github.com/Wldgyu/capstone-ai" TargetMode="External"/><Relationship Id="rId8" Type="http://schemas.openxmlformats.org/officeDocument/2006/relationships/hyperlink" Target="https://github.com/Wldgyu/capstone-ai" TargetMode="External"/><Relationship Id="rId9" Type="http://schemas.openxmlformats.org/officeDocument/2006/relationships/hyperlink" Target="https://github.com/Wldgyu/capstone-ai" TargetMode="External"/><Relationship Id="rId10" Type="http://schemas.openxmlformats.org/officeDocument/2006/relationships/hyperlink" Target="https://github.com/Wldgyu/capstone-ai" TargetMode="External"/><Relationship Id="rId11" Type="http://schemas.openxmlformats.org/officeDocument/2006/relationships/hyperlink" Target="https://github.com/Wldgyu/capstone-ai" TargetMode="External"/><Relationship Id="rId1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16c2b774f_3_7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16c2b774f_3_75"/>
          <p:cNvSpPr/>
          <p:nvPr/>
        </p:nvSpPr>
        <p:spPr>
          <a:xfrm>
            <a:off x="685800" y="658368"/>
            <a:ext cx="1600200" cy="292608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16c2b774f_3_75"/>
          <p:cNvSpPr txBox="1"/>
          <p:nvPr/>
        </p:nvSpPr>
        <p:spPr>
          <a:xfrm>
            <a:off x="685800" y="708660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CAPSTONE PROJECT</a:t>
            </a:r>
            <a:endParaRPr/>
          </a:p>
        </p:txBody>
      </p:sp>
      <p:sp>
        <p:nvSpPr>
          <p:cNvPr id="238" name="Google Shape;238;g3f16c2b774f_3_75"/>
          <p:cNvSpPr txBox="1"/>
          <p:nvPr/>
        </p:nvSpPr>
        <p:spPr>
          <a:xfrm>
            <a:off x="685800" y="192024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</a:t>
            </a:r>
            <a:endParaRPr/>
          </a:p>
        </p:txBody>
      </p:sp>
      <p:sp>
        <p:nvSpPr>
          <p:cNvPr id="239" name="Google Shape;239;g3f16c2b774f_3_75"/>
          <p:cNvSpPr txBox="1"/>
          <p:nvPr/>
        </p:nvSpPr>
        <p:spPr>
          <a:xfrm>
            <a:off x="749808" y="2852928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서버 연동 및 서비스 배포</a:t>
            </a:r>
            <a:endParaRPr/>
          </a:p>
        </p:txBody>
      </p:sp>
      <p:sp>
        <p:nvSpPr>
          <p:cNvPr id="240" name="Google Shape;240;g3f16c2b774f_3_75"/>
          <p:cNvSpPr txBox="1"/>
          <p:nvPr/>
        </p:nvSpPr>
        <p:spPr>
          <a:xfrm>
            <a:off x="777240" y="356616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식재료 관리부터 레시피 추천, 영양 분석, 식단 추천까지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연결한 웹 · 모바일 통합 서비스</a:t>
            </a:r>
            <a:endParaRPr/>
          </a:p>
        </p:txBody>
      </p:sp>
      <p:sp>
        <p:nvSpPr>
          <p:cNvPr id="241" name="Google Shape;241;g3f16c2b774f_3_75"/>
          <p:cNvSpPr/>
          <p:nvPr/>
        </p:nvSpPr>
        <p:spPr>
          <a:xfrm>
            <a:off x="7955279" y="1234440"/>
            <a:ext cx="3383280" cy="429768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16c2b774f_3_75"/>
          <p:cNvSpPr txBox="1"/>
          <p:nvPr/>
        </p:nvSpPr>
        <p:spPr>
          <a:xfrm>
            <a:off x="8275320" y="1627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Production Stack</a:t>
            </a:r>
            <a:endParaRPr/>
          </a:p>
        </p:txBody>
      </p:sp>
      <p:sp>
        <p:nvSpPr>
          <p:cNvPr id="243" name="Google Shape;243;g3f16c2b774f_3_75"/>
          <p:cNvSpPr txBox="1"/>
          <p:nvPr/>
        </p:nvSpPr>
        <p:spPr>
          <a:xfrm>
            <a:off x="8302752" y="2148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+ Vercel</a:t>
            </a:r>
            <a:endParaRPr/>
          </a:p>
        </p:txBody>
      </p:sp>
      <p:sp>
        <p:nvSpPr>
          <p:cNvPr id="244" name="Google Shape;244;g3f16c2b774f_3_75"/>
          <p:cNvSpPr txBox="1"/>
          <p:nvPr/>
        </p:nvSpPr>
        <p:spPr>
          <a:xfrm>
            <a:off x="8302752" y="26791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Flutter APK</a:t>
            </a:r>
            <a:endParaRPr/>
          </a:p>
        </p:txBody>
      </p:sp>
      <p:sp>
        <p:nvSpPr>
          <p:cNvPr id="245" name="Google Shape;245;g3f16c2b774f_3_75"/>
          <p:cNvSpPr txBox="1"/>
          <p:nvPr/>
        </p:nvSpPr>
        <p:spPr>
          <a:xfrm>
            <a:off x="8302752" y="32095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 + Render</a:t>
            </a:r>
            <a:endParaRPr/>
          </a:p>
        </p:txBody>
      </p:sp>
      <p:sp>
        <p:nvSpPr>
          <p:cNvPr id="246" name="Google Shape;246;g3f16c2b774f_3_75"/>
          <p:cNvSpPr txBox="1"/>
          <p:nvPr/>
        </p:nvSpPr>
        <p:spPr>
          <a:xfrm>
            <a:off x="8302752" y="37398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 PostgreSQL</a:t>
            </a:r>
            <a:endParaRPr/>
          </a:p>
        </p:txBody>
      </p:sp>
      <p:sp>
        <p:nvSpPr>
          <p:cNvPr id="247" name="Google Shape;247;g3f16c2b774f_3_75"/>
          <p:cNvSpPr txBox="1"/>
          <p:nvPr/>
        </p:nvSpPr>
        <p:spPr>
          <a:xfrm>
            <a:off x="8302752" y="42702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AI Space</a:t>
            </a:r>
            <a:endParaRPr/>
          </a:p>
        </p:txBody>
      </p:sp>
      <p:sp>
        <p:nvSpPr>
          <p:cNvPr id="248" name="Google Shape;248;g3f16c2b774f_3_75"/>
          <p:cNvSpPr txBox="1"/>
          <p:nvPr/>
        </p:nvSpPr>
        <p:spPr>
          <a:xfrm>
            <a:off x="749808" y="6172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2026.06.15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16c2b774f_3_9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16c2b774f_3_93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sp>
        <p:nvSpPr>
          <p:cNvPr id="255" name="Google Shape;255;g3f16c2b774f_3_93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안의 식재료는 있는데, 무엇을 만들지 모르는 상황</a:t>
            </a:r>
            <a:endParaRPr/>
          </a:p>
        </p:txBody>
      </p:sp>
      <p:sp>
        <p:nvSpPr>
          <p:cNvPr id="256" name="Google Shape;256;g3f16c2b774f_3_93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16c2b774f_3_93"/>
          <p:cNvSpPr txBox="1"/>
          <p:nvPr/>
        </p:nvSpPr>
        <p:spPr>
          <a:xfrm>
            <a:off x="731520" y="18288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문제</a:t>
            </a:r>
            <a:endParaRPr/>
          </a:p>
        </p:txBody>
      </p:sp>
      <p:sp>
        <p:nvSpPr>
          <p:cNvPr id="258" name="Google Shape;258;g3f16c2b774f_3_93"/>
          <p:cNvSpPr txBox="1"/>
          <p:nvPr/>
        </p:nvSpPr>
        <p:spPr>
          <a:xfrm>
            <a:off x="731520" y="2331720"/>
            <a:ext cx="5120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유통기한이 지난 뒤에야 식재료를 발견한다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재료와 레시피가 따로 관리되어 활용도가 낮다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영양 정보와 식단 계획은 별도 검색이 필요하다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냉장고는 누가 무엇을 넣고 뺐는지 추적하기 어렵다</a:t>
            </a:r>
            <a:endParaRPr/>
          </a:p>
        </p:txBody>
      </p:sp>
      <p:sp>
        <p:nvSpPr>
          <p:cNvPr id="259" name="Google Shape;259;g3f16c2b774f_3_93"/>
          <p:cNvSpPr/>
          <p:nvPr/>
        </p:nvSpPr>
        <p:spPr>
          <a:xfrm>
            <a:off x="6217920" y="1783080"/>
            <a:ext cx="5303520" cy="42519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16c2b774f_3_93"/>
          <p:cNvSpPr txBox="1"/>
          <p:nvPr/>
        </p:nvSpPr>
        <p:spPr>
          <a:xfrm>
            <a:off x="6537960" y="2148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냉부해의 목표</a:t>
            </a:r>
            <a:endParaRPr/>
          </a:p>
        </p:txBody>
      </p:sp>
      <p:sp>
        <p:nvSpPr>
          <p:cNvPr id="261" name="Google Shape;261;g3f16c2b774f_3_93"/>
          <p:cNvSpPr txBox="1"/>
          <p:nvPr/>
        </p:nvSpPr>
        <p:spPr>
          <a:xfrm>
            <a:off x="6537960" y="2788920"/>
            <a:ext cx="4663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데이터를 중심으로</a:t>
            </a:r>
            <a:b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식재료 관리, AI 추천, 영양 분석,</a:t>
            </a:r>
            <a:b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공유를 하나의 흐름으로 묶는다.</a:t>
            </a:r>
            <a:endParaRPr/>
          </a:p>
        </p:txBody>
      </p:sp>
      <p:sp>
        <p:nvSpPr>
          <p:cNvPr id="262" name="Google Shape;262;g3f16c2b774f_3_93"/>
          <p:cNvSpPr txBox="1"/>
          <p:nvPr/>
        </p:nvSpPr>
        <p:spPr>
          <a:xfrm>
            <a:off x="6537960" y="4800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결과: 재료 낭비 감소 + 메뉴 결정 시간 단축</a:t>
            </a:r>
            <a:endParaRPr/>
          </a:p>
        </p:txBody>
      </p:sp>
      <p:sp>
        <p:nvSpPr>
          <p:cNvPr id="263" name="Google Shape;263;g3f16c2b774f_3_9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16c2b774f_3_10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16c2b774f_3_107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전체 구조</a:t>
            </a:r>
            <a:endParaRPr/>
          </a:p>
        </p:txBody>
      </p:sp>
      <p:sp>
        <p:nvSpPr>
          <p:cNvPr id="270" name="Google Shape;270;g3f16c2b774f_3_107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클라이언트는 백엔드만 호출하고, 백엔드가 DB와 AI 서버를 중계</a:t>
            </a:r>
            <a:endParaRPr/>
          </a:p>
        </p:txBody>
      </p:sp>
      <p:sp>
        <p:nvSpPr>
          <p:cNvPr id="271" name="Google Shape;271;g3f16c2b774f_3_107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16c2b774f_3_107"/>
          <p:cNvSpPr/>
          <p:nvPr/>
        </p:nvSpPr>
        <p:spPr>
          <a:xfrm>
            <a:off x="822960" y="192024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8BCEE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16c2b774f_3_107"/>
          <p:cNvSpPr txBox="1"/>
          <p:nvPr/>
        </p:nvSpPr>
        <p:spPr>
          <a:xfrm>
            <a:off x="914400" y="2103120"/>
            <a:ext cx="201167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+ Vite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</a:t>
            </a:r>
            <a:endParaRPr/>
          </a:p>
        </p:txBody>
      </p:sp>
      <p:sp>
        <p:nvSpPr>
          <p:cNvPr id="274" name="Google Shape;274;g3f16c2b774f_3_107"/>
          <p:cNvSpPr/>
          <p:nvPr/>
        </p:nvSpPr>
        <p:spPr>
          <a:xfrm>
            <a:off x="822960" y="388620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8BCEE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16c2b774f_3_107"/>
          <p:cNvSpPr txBox="1"/>
          <p:nvPr/>
        </p:nvSpPr>
        <p:spPr>
          <a:xfrm>
            <a:off x="914400" y="4069080"/>
            <a:ext cx="201167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Mobile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Flutter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 배포</a:t>
            </a:r>
            <a:endParaRPr/>
          </a:p>
        </p:txBody>
      </p:sp>
      <p:sp>
        <p:nvSpPr>
          <p:cNvPr id="276" name="Google Shape;276;g3f16c2b774f_3_107"/>
          <p:cNvSpPr/>
          <p:nvPr/>
        </p:nvSpPr>
        <p:spPr>
          <a:xfrm>
            <a:off x="4617720" y="288036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16c2b774f_3_107"/>
          <p:cNvSpPr txBox="1"/>
          <p:nvPr/>
        </p:nvSpPr>
        <p:spPr>
          <a:xfrm>
            <a:off x="4709159" y="306324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 API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</a:t>
            </a:r>
            <a:endParaRPr/>
          </a:p>
        </p:txBody>
      </p:sp>
      <p:sp>
        <p:nvSpPr>
          <p:cNvPr id="278" name="Google Shape;278;g3f16c2b774f_3_107"/>
          <p:cNvSpPr/>
          <p:nvPr/>
        </p:nvSpPr>
        <p:spPr>
          <a:xfrm>
            <a:off x="8823960" y="1874519"/>
            <a:ext cx="2331720" cy="1051560"/>
          </a:xfrm>
          <a:prstGeom prst="roundRect">
            <a:avLst>
              <a:gd fmla="val 16667" name="adj"/>
            </a:avLst>
          </a:prstGeom>
          <a:solidFill>
            <a:srgbClr val="34D97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16c2b774f_3_107"/>
          <p:cNvSpPr txBox="1"/>
          <p:nvPr/>
        </p:nvSpPr>
        <p:spPr>
          <a:xfrm>
            <a:off x="8915400" y="2057400"/>
            <a:ext cx="214883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280" name="Google Shape;280;g3f16c2b774f_3_107"/>
          <p:cNvSpPr/>
          <p:nvPr/>
        </p:nvSpPr>
        <p:spPr>
          <a:xfrm>
            <a:off x="8823960" y="3977639"/>
            <a:ext cx="2331720" cy="1051560"/>
          </a:xfrm>
          <a:prstGeom prst="roundRect">
            <a:avLst>
              <a:gd fmla="val 16667" name="adj"/>
            </a:avLst>
          </a:prstGeom>
          <a:solidFill>
            <a:srgbClr val="F5C44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16c2b774f_3_107"/>
          <p:cNvSpPr txBox="1"/>
          <p:nvPr/>
        </p:nvSpPr>
        <p:spPr>
          <a:xfrm>
            <a:off x="8915400" y="4160520"/>
            <a:ext cx="214883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Server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Space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</a:t>
            </a:r>
            <a:endParaRPr/>
          </a:p>
        </p:txBody>
      </p:sp>
      <p:cxnSp>
        <p:nvCxnSpPr>
          <p:cNvPr id="282" name="Google Shape;282;g3f16c2b774f_3_107"/>
          <p:cNvCxnSpPr/>
          <p:nvPr/>
        </p:nvCxnSpPr>
        <p:spPr>
          <a:xfrm>
            <a:off x="3017520" y="2441448"/>
            <a:ext cx="1600200" cy="804672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3" name="Google Shape;283;g3f16c2b774f_3_107"/>
          <p:cNvCxnSpPr/>
          <p:nvPr/>
        </p:nvCxnSpPr>
        <p:spPr>
          <a:xfrm flipH="1" rot="10800000">
            <a:off x="3017520" y="3657600"/>
            <a:ext cx="1600200" cy="758952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4" name="Google Shape;284;g3f16c2b774f_3_107"/>
          <p:cNvCxnSpPr/>
          <p:nvPr/>
        </p:nvCxnSpPr>
        <p:spPr>
          <a:xfrm flipH="1" rot="10800000">
            <a:off x="7132320" y="2395728"/>
            <a:ext cx="1691640" cy="850392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5" name="Google Shape;285;g3f16c2b774f_3_107"/>
          <p:cNvCxnSpPr/>
          <p:nvPr/>
        </p:nvCxnSpPr>
        <p:spPr>
          <a:xfrm>
            <a:off x="7132320" y="3703320"/>
            <a:ext cx="1691640" cy="795528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6" name="Google Shape;286;g3f16c2b774f_3_107"/>
          <p:cNvSpPr txBox="1"/>
          <p:nvPr/>
        </p:nvSpPr>
        <p:spPr>
          <a:xfrm>
            <a:off x="3246120" y="257860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 API + JWT</a:t>
            </a:r>
            <a:endParaRPr/>
          </a:p>
        </p:txBody>
      </p:sp>
      <p:sp>
        <p:nvSpPr>
          <p:cNvPr id="287" name="Google Shape;287;g3f16c2b774f_3_107"/>
          <p:cNvSpPr txBox="1"/>
          <p:nvPr/>
        </p:nvSpPr>
        <p:spPr>
          <a:xfrm>
            <a:off x="7726679" y="2560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JPA</a:t>
            </a:r>
            <a:endParaRPr/>
          </a:p>
        </p:txBody>
      </p:sp>
      <p:sp>
        <p:nvSpPr>
          <p:cNvPr id="288" name="Google Shape;288;g3f16c2b774f_3_107"/>
          <p:cNvSpPr txBox="1"/>
          <p:nvPr/>
        </p:nvSpPr>
        <p:spPr>
          <a:xfrm>
            <a:off x="7543800" y="406908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proxy</a:t>
            </a:r>
            <a:endParaRPr/>
          </a:p>
        </p:txBody>
      </p:sp>
      <p:sp>
        <p:nvSpPr>
          <p:cNvPr id="289" name="Google Shape;289;g3f16c2b774f_3_107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16c2b774f_3_13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16c2b774f_3_132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아키텍처</a:t>
            </a:r>
            <a:endParaRPr/>
          </a:p>
        </p:txBody>
      </p:sp>
      <p:sp>
        <p:nvSpPr>
          <p:cNvPr id="296" name="Google Shape;296;g3f16c2b774f_3_132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 · Backend · AI Server — 각 레이어 기술 스택</a:t>
            </a:r>
            <a:endParaRPr/>
          </a:p>
        </p:txBody>
      </p:sp>
      <p:sp>
        <p:nvSpPr>
          <p:cNvPr id="297" name="Google Shape;297;g3f16c2b774f_3_132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16c2b774f_3_132"/>
          <p:cNvSpPr/>
          <p:nvPr/>
        </p:nvSpPr>
        <p:spPr>
          <a:xfrm>
            <a:off x="379476" y="1783080"/>
            <a:ext cx="3657600" cy="45720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16c2b774f_3_132"/>
          <p:cNvSpPr/>
          <p:nvPr/>
        </p:nvSpPr>
        <p:spPr>
          <a:xfrm>
            <a:off x="608076" y="2075688"/>
            <a:ext cx="73152" cy="411480"/>
          </a:xfrm>
          <a:prstGeom prst="rect">
            <a:avLst/>
          </a:prstGeom>
          <a:solidFill>
            <a:srgbClr val="8BC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16c2b774f_3_132"/>
          <p:cNvSpPr txBox="1"/>
          <p:nvPr/>
        </p:nvSpPr>
        <p:spPr>
          <a:xfrm>
            <a:off x="763524" y="2057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</a:t>
            </a:r>
            <a:endParaRPr/>
          </a:p>
        </p:txBody>
      </p:sp>
      <p:sp>
        <p:nvSpPr>
          <p:cNvPr id="301" name="Google Shape;301;g3f16c2b774f_3_132"/>
          <p:cNvSpPr txBox="1"/>
          <p:nvPr/>
        </p:nvSpPr>
        <p:spPr>
          <a:xfrm>
            <a:off x="763524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+ 모바일 클라이언트</a:t>
            </a:r>
            <a:endParaRPr/>
          </a:p>
        </p:txBody>
      </p:sp>
      <p:sp>
        <p:nvSpPr>
          <p:cNvPr id="302" name="Google Shape;302;g3f16c2b774f_3_132"/>
          <p:cNvSpPr/>
          <p:nvPr/>
        </p:nvSpPr>
        <p:spPr>
          <a:xfrm>
            <a:off x="608076" y="301752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6.jpeg" id="303" name="Google Shape;303;g3f16c2b774f_3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" y="3127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f16c2b774f_3_132"/>
          <p:cNvSpPr txBox="1"/>
          <p:nvPr/>
        </p:nvSpPr>
        <p:spPr>
          <a:xfrm>
            <a:off x="1522476" y="313639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</a:t>
            </a:r>
            <a:endParaRPr/>
          </a:p>
        </p:txBody>
      </p:sp>
      <p:sp>
        <p:nvSpPr>
          <p:cNvPr id="305" name="Google Shape;305;g3f16c2b774f_3_132"/>
          <p:cNvSpPr txBox="1"/>
          <p:nvPr/>
        </p:nvSpPr>
        <p:spPr>
          <a:xfrm>
            <a:off x="1522476" y="3429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배포</a:t>
            </a:r>
            <a:endParaRPr/>
          </a:p>
        </p:txBody>
      </p:sp>
      <p:sp>
        <p:nvSpPr>
          <p:cNvPr id="306" name="Google Shape;306;g3f16c2b774f_3_132"/>
          <p:cNvSpPr/>
          <p:nvPr/>
        </p:nvSpPr>
        <p:spPr>
          <a:xfrm>
            <a:off x="608076" y="422910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7.jpeg" id="307" name="Google Shape;307;g3f16c2b774f_3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956" y="43388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16c2b774f_3_132"/>
          <p:cNvSpPr txBox="1"/>
          <p:nvPr/>
        </p:nvSpPr>
        <p:spPr>
          <a:xfrm>
            <a:off x="1522476" y="43479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</a:t>
            </a:r>
            <a:endParaRPr/>
          </a:p>
        </p:txBody>
      </p:sp>
      <p:sp>
        <p:nvSpPr>
          <p:cNvPr id="309" name="Google Shape;309;g3f16c2b774f_3_132"/>
          <p:cNvSpPr txBox="1"/>
          <p:nvPr/>
        </p:nvSpPr>
        <p:spPr>
          <a:xfrm>
            <a:off x="1522476" y="46405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도구</a:t>
            </a:r>
            <a:endParaRPr/>
          </a:p>
        </p:txBody>
      </p:sp>
      <p:sp>
        <p:nvSpPr>
          <p:cNvPr id="310" name="Google Shape;310;g3f16c2b774f_3_132"/>
          <p:cNvSpPr/>
          <p:nvPr/>
        </p:nvSpPr>
        <p:spPr>
          <a:xfrm>
            <a:off x="608076" y="544068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3.jpeg" id="311" name="Google Shape;311;g3f16c2b774f_3_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956" y="5550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16c2b774f_3_132"/>
          <p:cNvSpPr txBox="1"/>
          <p:nvPr/>
        </p:nvSpPr>
        <p:spPr>
          <a:xfrm>
            <a:off x="1522476" y="55595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Flutter</a:t>
            </a:r>
            <a:endParaRPr/>
          </a:p>
        </p:txBody>
      </p:sp>
      <p:sp>
        <p:nvSpPr>
          <p:cNvPr id="313" name="Google Shape;313;g3f16c2b774f_3_132"/>
          <p:cNvSpPr txBox="1"/>
          <p:nvPr/>
        </p:nvSpPr>
        <p:spPr>
          <a:xfrm>
            <a:off x="1522476" y="5852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앱</a:t>
            </a:r>
            <a:endParaRPr/>
          </a:p>
        </p:txBody>
      </p:sp>
      <p:sp>
        <p:nvSpPr>
          <p:cNvPr id="314" name="Google Shape;314;g3f16c2b774f_3_132"/>
          <p:cNvSpPr/>
          <p:nvPr/>
        </p:nvSpPr>
        <p:spPr>
          <a:xfrm>
            <a:off x="4265676" y="1783080"/>
            <a:ext cx="3657600" cy="45720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16c2b774f_3_132"/>
          <p:cNvSpPr/>
          <p:nvPr/>
        </p:nvSpPr>
        <p:spPr>
          <a:xfrm>
            <a:off x="4494276" y="2075688"/>
            <a:ext cx="73152" cy="411480"/>
          </a:xfrm>
          <a:prstGeom prst="rect">
            <a:avLst/>
          </a:prstGeom>
          <a:solidFill>
            <a:srgbClr val="34D9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16c2b774f_3_132"/>
          <p:cNvSpPr txBox="1"/>
          <p:nvPr/>
        </p:nvSpPr>
        <p:spPr>
          <a:xfrm>
            <a:off x="4649724" y="2057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</a:t>
            </a:r>
            <a:endParaRPr/>
          </a:p>
        </p:txBody>
      </p:sp>
      <p:sp>
        <p:nvSpPr>
          <p:cNvPr id="317" name="Google Shape;317;g3f16c2b774f_3_132"/>
          <p:cNvSpPr txBox="1"/>
          <p:nvPr/>
        </p:nvSpPr>
        <p:spPr>
          <a:xfrm>
            <a:off x="4649724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+ 데이터베이스</a:t>
            </a:r>
            <a:endParaRPr/>
          </a:p>
        </p:txBody>
      </p:sp>
      <p:sp>
        <p:nvSpPr>
          <p:cNvPr id="318" name="Google Shape;318;g3f16c2b774f_3_132"/>
          <p:cNvSpPr/>
          <p:nvPr/>
        </p:nvSpPr>
        <p:spPr>
          <a:xfrm>
            <a:off x="4494276" y="301752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8.jpeg" id="319" name="Google Shape;319;g3f16c2b774f_3_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7156" y="3127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f16c2b774f_3_132"/>
          <p:cNvSpPr txBox="1"/>
          <p:nvPr/>
        </p:nvSpPr>
        <p:spPr>
          <a:xfrm>
            <a:off x="5408676" y="313639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</a:t>
            </a:r>
            <a:endParaRPr/>
          </a:p>
        </p:txBody>
      </p:sp>
      <p:sp>
        <p:nvSpPr>
          <p:cNvPr id="321" name="Google Shape;321;g3f16c2b774f_3_132"/>
          <p:cNvSpPr txBox="1"/>
          <p:nvPr/>
        </p:nvSpPr>
        <p:spPr>
          <a:xfrm>
            <a:off x="5408676" y="3429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 API</a:t>
            </a:r>
            <a:endParaRPr/>
          </a:p>
        </p:txBody>
      </p:sp>
      <p:sp>
        <p:nvSpPr>
          <p:cNvPr id="322" name="Google Shape;322;g3f16c2b774f_3_132"/>
          <p:cNvSpPr/>
          <p:nvPr/>
        </p:nvSpPr>
        <p:spPr>
          <a:xfrm>
            <a:off x="4494276" y="422910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10.jpeg" id="323" name="Google Shape;323;g3f16c2b774f_3_1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7156" y="43388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f16c2b774f_3_132"/>
          <p:cNvSpPr txBox="1"/>
          <p:nvPr/>
        </p:nvSpPr>
        <p:spPr>
          <a:xfrm>
            <a:off x="5408676" y="43479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325" name="Google Shape;325;g3f16c2b774f_3_132"/>
          <p:cNvSpPr txBox="1"/>
          <p:nvPr/>
        </p:nvSpPr>
        <p:spPr>
          <a:xfrm>
            <a:off x="5408676" y="46405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관계형 DB</a:t>
            </a:r>
            <a:endParaRPr/>
          </a:p>
        </p:txBody>
      </p:sp>
      <p:sp>
        <p:nvSpPr>
          <p:cNvPr id="326" name="Google Shape;326;g3f16c2b774f_3_132"/>
          <p:cNvSpPr/>
          <p:nvPr/>
        </p:nvSpPr>
        <p:spPr>
          <a:xfrm>
            <a:off x="4494276" y="544068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9.jpeg" id="327" name="Google Shape;327;g3f16c2b774f_3_1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7156" y="5550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f16c2b774f_3_132"/>
          <p:cNvSpPr txBox="1"/>
          <p:nvPr/>
        </p:nvSpPr>
        <p:spPr>
          <a:xfrm>
            <a:off x="5408676" y="55595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/>
          </a:p>
        </p:txBody>
      </p:sp>
      <p:sp>
        <p:nvSpPr>
          <p:cNvPr id="329" name="Google Shape;329;g3f16c2b774f_3_132"/>
          <p:cNvSpPr txBox="1"/>
          <p:nvPr/>
        </p:nvSpPr>
        <p:spPr>
          <a:xfrm>
            <a:off x="5408676" y="5852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호스팅</a:t>
            </a:r>
            <a:endParaRPr/>
          </a:p>
        </p:txBody>
      </p:sp>
      <p:sp>
        <p:nvSpPr>
          <p:cNvPr id="330" name="Google Shape;330;g3f16c2b774f_3_132"/>
          <p:cNvSpPr/>
          <p:nvPr/>
        </p:nvSpPr>
        <p:spPr>
          <a:xfrm>
            <a:off x="8151875" y="1783080"/>
            <a:ext cx="3657600" cy="45720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16c2b774f_3_132"/>
          <p:cNvSpPr/>
          <p:nvPr/>
        </p:nvSpPr>
        <p:spPr>
          <a:xfrm>
            <a:off x="8380475" y="2075688"/>
            <a:ext cx="73152" cy="41148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16c2b774f_3_132"/>
          <p:cNvSpPr txBox="1"/>
          <p:nvPr/>
        </p:nvSpPr>
        <p:spPr>
          <a:xfrm>
            <a:off x="8535924" y="2057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Server</a:t>
            </a:r>
            <a:endParaRPr/>
          </a:p>
        </p:txBody>
      </p:sp>
      <p:sp>
        <p:nvSpPr>
          <p:cNvPr id="333" name="Google Shape;333;g3f16c2b774f_3_132"/>
          <p:cNvSpPr txBox="1"/>
          <p:nvPr/>
        </p:nvSpPr>
        <p:spPr>
          <a:xfrm>
            <a:off x="8535924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Space</a:t>
            </a:r>
            <a:endParaRPr/>
          </a:p>
        </p:txBody>
      </p:sp>
      <p:sp>
        <p:nvSpPr>
          <p:cNvPr id="334" name="Google Shape;334;g3f16c2b774f_3_132"/>
          <p:cNvSpPr/>
          <p:nvPr/>
        </p:nvSpPr>
        <p:spPr>
          <a:xfrm>
            <a:off x="8380475" y="301752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1.jpeg" id="335" name="Google Shape;335;g3f16c2b774f_3_1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63355" y="3127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f16c2b774f_3_132"/>
          <p:cNvSpPr txBox="1"/>
          <p:nvPr/>
        </p:nvSpPr>
        <p:spPr>
          <a:xfrm>
            <a:off x="9294876" y="313639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</a:t>
            </a:r>
            <a:endParaRPr/>
          </a:p>
        </p:txBody>
      </p:sp>
      <p:sp>
        <p:nvSpPr>
          <p:cNvPr id="337" name="Google Shape;337;g3f16c2b774f_3_132"/>
          <p:cNvSpPr txBox="1"/>
          <p:nvPr/>
        </p:nvSpPr>
        <p:spPr>
          <a:xfrm>
            <a:off x="9294876" y="3429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 호스팅</a:t>
            </a:r>
            <a:endParaRPr/>
          </a:p>
        </p:txBody>
      </p:sp>
      <p:sp>
        <p:nvSpPr>
          <p:cNvPr id="338" name="Google Shape;338;g3f16c2b774f_3_132"/>
          <p:cNvSpPr/>
          <p:nvPr/>
        </p:nvSpPr>
        <p:spPr>
          <a:xfrm>
            <a:off x="8380475" y="4229053"/>
            <a:ext cx="3200400" cy="7773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5.jpeg" id="339" name="Google Shape;339;g3f16c2b774f_3_1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63355" y="434339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f16c2b774f_3_132"/>
          <p:cNvSpPr txBox="1"/>
          <p:nvPr/>
        </p:nvSpPr>
        <p:spPr>
          <a:xfrm>
            <a:off x="9294875" y="4348500"/>
            <a:ext cx="2286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</a:t>
            </a:r>
            <a:endParaRPr/>
          </a:p>
        </p:txBody>
      </p:sp>
      <p:sp>
        <p:nvSpPr>
          <p:cNvPr id="341" name="Google Shape;341;g3f16c2b774f_3_132"/>
          <p:cNvSpPr txBox="1"/>
          <p:nvPr/>
        </p:nvSpPr>
        <p:spPr>
          <a:xfrm>
            <a:off x="9294876" y="4715333"/>
            <a:ext cx="2286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엔드포인트</a:t>
            </a:r>
            <a:endParaRPr/>
          </a:p>
        </p:txBody>
      </p:sp>
      <p:sp>
        <p:nvSpPr>
          <p:cNvPr id="342" name="Google Shape;342;g3f16c2b774f_3_132"/>
          <p:cNvSpPr/>
          <p:nvPr/>
        </p:nvSpPr>
        <p:spPr>
          <a:xfrm>
            <a:off x="8380475" y="5440679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2.jpeg" id="343" name="Google Shape;343;g3f16c2b774f_3_1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3355" y="5550407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f16c2b774f_3_132"/>
          <p:cNvSpPr txBox="1"/>
          <p:nvPr/>
        </p:nvSpPr>
        <p:spPr>
          <a:xfrm>
            <a:off x="9294876" y="555955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Gemini</a:t>
            </a:r>
            <a:endParaRPr/>
          </a:p>
        </p:txBody>
      </p:sp>
      <p:sp>
        <p:nvSpPr>
          <p:cNvPr id="345" name="Google Shape;345;g3f16c2b774f_3_132"/>
          <p:cNvSpPr txBox="1"/>
          <p:nvPr/>
        </p:nvSpPr>
        <p:spPr>
          <a:xfrm>
            <a:off x="9294876" y="585215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</a:t>
            </a:r>
            <a:endParaRPr/>
          </a:p>
        </p:txBody>
      </p:sp>
      <p:sp>
        <p:nvSpPr>
          <p:cNvPr id="346" name="Google Shape;346;g3f16c2b774f_3_132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350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2F3EE"/>
                </a:solidFill>
                <a:latin typeface="Malgun Gothic"/>
              </a:rPr>
              <a:t>ERD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21792" y="950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AEB8"/>
                </a:solidFill>
                <a:latin typeface="Malgun Gothic"/>
              </a:rPr>
              <a:t>Entity Relationship Diagram — 데이터베이스 스키마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A6AEB8"/>
                </a:solidFill>
                <a:latin typeface="Malgun Gothic"/>
              </a:rPr>
              <a:t>냉부해 | 05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457200" y="1691640"/>
            <a:ext cx="1127455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8" name="Picture 357" descr="erd_orig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828800"/>
            <a:ext cx="110002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16c2b774f_3_19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f16c2b774f_3_19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서버 연동</a:t>
            </a:r>
            <a:endParaRPr/>
          </a:p>
        </p:txBody>
      </p:sp>
      <p:sp>
        <p:nvSpPr>
          <p:cNvPr id="361" name="Google Shape;361;g3f16c2b774f_3_192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Space 주소를 백엔드 환경변수로 연결</a:t>
            </a:r>
            <a:endParaRPr/>
          </a:p>
        </p:txBody>
      </p:sp>
      <p:sp>
        <p:nvSpPr>
          <p:cNvPr id="362" name="Google Shape;362;g3f16c2b774f_3_192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16c2b774f_3_192"/>
          <p:cNvSpPr/>
          <p:nvPr/>
        </p:nvSpPr>
        <p:spPr>
          <a:xfrm>
            <a:off x="731520" y="17373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16c2b774f_3_192"/>
          <p:cNvSpPr txBox="1"/>
          <p:nvPr/>
        </p:nvSpPr>
        <p:spPr>
          <a:xfrm>
            <a:off x="1051560" y="20574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설정</a:t>
            </a:r>
            <a:endParaRPr/>
          </a:p>
        </p:txBody>
      </p:sp>
      <p:sp>
        <p:nvSpPr>
          <p:cNvPr id="365" name="Google Shape;365;g3f16c2b774f_3_192"/>
          <p:cNvSpPr txBox="1"/>
          <p:nvPr/>
        </p:nvSpPr>
        <p:spPr>
          <a:xfrm>
            <a:off x="1051560" y="27889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AI_SERVER_BASE_URL</a:t>
            </a:r>
            <a:endParaRPr/>
          </a:p>
        </p:txBody>
      </p:sp>
      <p:sp>
        <p:nvSpPr>
          <p:cNvPr id="366" name="Google Shape;366;g3f16c2b774f_3_192"/>
          <p:cNvSpPr txBox="1"/>
          <p:nvPr/>
        </p:nvSpPr>
        <p:spPr>
          <a:xfrm>
            <a:off x="1051560" y="3154680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https://kimchi9-cap-refrigerator.hf.space</a:t>
            </a:r>
            <a:endParaRPr/>
          </a:p>
        </p:txBody>
      </p:sp>
      <p:sp>
        <p:nvSpPr>
          <p:cNvPr id="367" name="Google Shape;367;g3f16c2b774f_3_192"/>
          <p:cNvSpPr txBox="1"/>
          <p:nvPr/>
        </p:nvSpPr>
        <p:spPr>
          <a:xfrm>
            <a:off x="1051560" y="3794760"/>
            <a:ext cx="4343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환경변수로 주입하면 백엔드가 모든 AI 요청을 해당 서버로 프록시한다.</a:t>
            </a:r>
            <a:endParaRPr/>
          </a:p>
        </p:txBody>
      </p:sp>
      <p:sp>
        <p:nvSpPr>
          <p:cNvPr id="368" name="Google Shape;368;g3f16c2b774f_3_192"/>
          <p:cNvSpPr txBox="1"/>
          <p:nvPr/>
        </p:nvSpPr>
        <p:spPr>
          <a:xfrm>
            <a:off x="1051560" y="5166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확인: /openapi.json 200 OK</a:t>
            </a:r>
            <a:endParaRPr/>
          </a:p>
        </p:txBody>
      </p:sp>
      <p:sp>
        <p:nvSpPr>
          <p:cNvPr id="369" name="Google Shape;369;g3f16c2b774f_3_192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16c2b774f_3_192"/>
          <p:cNvSpPr txBox="1"/>
          <p:nvPr/>
        </p:nvSpPr>
        <p:spPr>
          <a:xfrm>
            <a:off x="6583680" y="2057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연결되는 AI 기능</a:t>
            </a:r>
            <a:endParaRPr/>
          </a:p>
        </p:txBody>
      </p:sp>
      <p:sp>
        <p:nvSpPr>
          <p:cNvPr id="371" name="Google Shape;371;g3f16c2b774f_3_192"/>
          <p:cNvSpPr txBox="1"/>
          <p:nvPr/>
        </p:nvSpPr>
        <p:spPr>
          <a:xfrm>
            <a:off x="6583680" y="2743200"/>
            <a:ext cx="4983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/api/recipes/ai-recommendations → AI /api/recommend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/api/nutrition/analyze → AI /analyze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/api/recipes/ai-for-food → AI /fdmake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식단 추천은 백엔드 Gemini API로 별도 처리</a:t>
            </a:r>
            <a:endParaRPr/>
          </a:p>
        </p:txBody>
      </p:sp>
      <p:sp>
        <p:nvSpPr>
          <p:cNvPr id="372" name="Google Shape;372;g3f16c2b774f_3_192"/>
          <p:cNvSpPr txBox="1"/>
          <p:nvPr/>
        </p:nvSpPr>
        <p:spPr>
          <a:xfrm>
            <a:off x="6583680" y="534924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클라이언트는 AI 서버 주소를 몰라도 된다.</a:t>
            </a:r>
            <a:endParaRPr/>
          </a:p>
        </p:txBody>
      </p:sp>
      <p:sp>
        <p:nvSpPr>
          <p:cNvPr id="373" name="Google Shape;373;g3f16c2b774f_3_192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16c2b774f_3_2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16c2b774f_3_210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 1: 냉장고와 식재료</a:t>
            </a:r>
            <a:endParaRPr/>
          </a:p>
        </p:txBody>
      </p:sp>
      <p:sp>
        <p:nvSpPr>
          <p:cNvPr id="380" name="Google Shape;380;g3f16c2b774f_3_210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공유 냉장고를 기준으로 재료 상태를 관리</a:t>
            </a:r>
            <a:endParaRPr/>
          </a:p>
        </p:txBody>
      </p:sp>
      <p:sp>
        <p:nvSpPr>
          <p:cNvPr id="381" name="Google Shape;381;g3f16c2b774f_3_210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f16c2b774f_3_210"/>
          <p:cNvSpPr txBox="1"/>
          <p:nvPr/>
        </p:nvSpPr>
        <p:spPr>
          <a:xfrm>
            <a:off x="731520" y="1874519"/>
            <a:ext cx="5577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생성, 초대 코드 발급, 참여, 멤버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냉장고 기준으로 재료 목록, 추가, 수정, 삭제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카테고리·보관 방식 enum으로 데이터 일관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유통기한 D-day, 알레르기 경고, 우선순위 화면 제공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게스트 모드는 앱 로컬 저장소로 재료 관리 가능</a:t>
            </a:r>
            <a:endParaRPr/>
          </a:p>
        </p:txBody>
      </p:sp>
      <p:sp>
        <p:nvSpPr>
          <p:cNvPr id="383" name="Google Shape;383;g3f16c2b774f_3_210"/>
          <p:cNvSpPr/>
          <p:nvPr/>
        </p:nvSpPr>
        <p:spPr>
          <a:xfrm>
            <a:off x="6858000" y="1783080"/>
            <a:ext cx="4389120" cy="44805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16c2b774f_3_210"/>
          <p:cNvSpPr/>
          <p:nvPr/>
        </p:nvSpPr>
        <p:spPr>
          <a:xfrm>
            <a:off x="7223760" y="2148840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16c2b774f_3_210"/>
          <p:cNvSpPr txBox="1"/>
          <p:nvPr/>
        </p:nvSpPr>
        <p:spPr>
          <a:xfrm>
            <a:off x="7452360" y="22951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</a:t>
            </a:r>
            <a:endParaRPr/>
          </a:p>
        </p:txBody>
      </p:sp>
      <p:sp>
        <p:nvSpPr>
          <p:cNvPr id="386" name="Google Shape;386;g3f16c2b774f_3_210"/>
          <p:cNvSpPr txBox="1"/>
          <p:nvPr/>
        </p:nvSpPr>
        <p:spPr>
          <a:xfrm>
            <a:off x="8595360" y="22951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UUID 기반 공유 단위</a:t>
            </a:r>
            <a:endParaRPr/>
          </a:p>
        </p:txBody>
      </p:sp>
      <p:sp>
        <p:nvSpPr>
          <p:cNvPr id="387" name="Google Shape;387;g3f16c2b774f_3_210"/>
          <p:cNvSpPr/>
          <p:nvPr/>
        </p:nvSpPr>
        <p:spPr>
          <a:xfrm>
            <a:off x="7223760" y="3017520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f16c2b774f_3_210"/>
          <p:cNvSpPr txBox="1"/>
          <p:nvPr/>
        </p:nvSpPr>
        <p:spPr>
          <a:xfrm>
            <a:off x="7452360" y="316382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재료</a:t>
            </a:r>
            <a:endParaRPr/>
          </a:p>
        </p:txBody>
      </p:sp>
      <p:sp>
        <p:nvSpPr>
          <p:cNvPr id="389" name="Google Shape;389;g3f16c2b774f_3_210"/>
          <p:cNvSpPr txBox="1"/>
          <p:nvPr/>
        </p:nvSpPr>
        <p:spPr>
          <a:xfrm>
            <a:off x="8595360" y="316382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냉장고별 CRUD</a:t>
            </a:r>
            <a:endParaRPr/>
          </a:p>
        </p:txBody>
      </p:sp>
      <p:sp>
        <p:nvSpPr>
          <p:cNvPr id="390" name="Google Shape;390;g3f16c2b774f_3_210"/>
          <p:cNvSpPr/>
          <p:nvPr/>
        </p:nvSpPr>
        <p:spPr>
          <a:xfrm>
            <a:off x="7223760" y="3886200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16c2b774f_3_210"/>
          <p:cNvSpPr txBox="1"/>
          <p:nvPr/>
        </p:nvSpPr>
        <p:spPr>
          <a:xfrm>
            <a:off x="7452360" y="40325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활동 로그</a:t>
            </a:r>
            <a:endParaRPr/>
          </a:p>
        </p:txBody>
      </p:sp>
      <p:sp>
        <p:nvSpPr>
          <p:cNvPr id="392" name="Google Shape;392;g3f16c2b774f_3_210"/>
          <p:cNvSpPr txBox="1"/>
          <p:nvPr/>
        </p:nvSpPr>
        <p:spPr>
          <a:xfrm>
            <a:off x="8595360" y="403250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추가/삭제 통계</a:t>
            </a:r>
            <a:endParaRPr/>
          </a:p>
        </p:txBody>
      </p:sp>
      <p:sp>
        <p:nvSpPr>
          <p:cNvPr id="393" name="Google Shape;393;g3f16c2b774f_3_210"/>
          <p:cNvSpPr/>
          <p:nvPr/>
        </p:nvSpPr>
        <p:spPr>
          <a:xfrm>
            <a:off x="7223760" y="4754879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16c2b774f_3_210"/>
          <p:cNvSpPr txBox="1"/>
          <p:nvPr/>
        </p:nvSpPr>
        <p:spPr>
          <a:xfrm>
            <a:off x="7452360" y="4901183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</a:t>
            </a:r>
            <a:endParaRPr/>
          </a:p>
        </p:txBody>
      </p:sp>
      <p:sp>
        <p:nvSpPr>
          <p:cNvPr id="395" name="Google Shape;395;g3f16c2b774f_3_210"/>
          <p:cNvSpPr txBox="1"/>
          <p:nvPr/>
        </p:nvSpPr>
        <p:spPr>
          <a:xfrm>
            <a:off x="8595360" y="4901183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D-3 ~ D-day 로컬 알림</a:t>
            </a:r>
            <a:endParaRPr/>
          </a:p>
        </p:txBody>
      </p:sp>
      <p:sp>
        <p:nvSpPr>
          <p:cNvPr id="396" name="Google Shape;396;g3f16c2b774f_3_210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16c2b774f_3_2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16c2b774f_3_23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 2: 추천과 분석</a:t>
            </a:r>
            <a:endParaRPr/>
          </a:p>
        </p:txBody>
      </p:sp>
      <p:sp>
        <p:nvSpPr>
          <p:cNvPr id="403" name="Google Shape;403;g3f16c2b774f_3_232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재료를 실제 식사 결정으로 연결</a:t>
            </a:r>
            <a:endParaRPr/>
          </a:p>
        </p:txBody>
      </p:sp>
      <p:sp>
        <p:nvSpPr>
          <p:cNvPr id="404" name="Google Shape;404;g3f16c2b774f_3_232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16c2b774f_3_232"/>
          <p:cNvSpPr/>
          <p:nvPr/>
        </p:nvSpPr>
        <p:spPr>
          <a:xfrm>
            <a:off x="777240" y="18288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16c2b774f_3_232"/>
          <p:cNvSpPr txBox="1"/>
          <p:nvPr/>
        </p:nvSpPr>
        <p:spPr>
          <a:xfrm>
            <a:off x="109728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레시피 추천</a:t>
            </a:r>
            <a:endParaRPr/>
          </a:p>
        </p:txBody>
      </p:sp>
      <p:sp>
        <p:nvSpPr>
          <p:cNvPr id="407" name="Google Shape;407;g3f16c2b774f_3_232"/>
          <p:cNvSpPr txBox="1"/>
          <p:nvPr/>
        </p:nvSpPr>
        <p:spPr>
          <a:xfrm>
            <a:off x="1097280" y="25328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재료와 레시피 재료를 비교해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매칭률과 보유·부족 재료를 안내</a:t>
            </a:r>
            <a:endParaRPr/>
          </a:p>
        </p:txBody>
      </p:sp>
      <p:sp>
        <p:nvSpPr>
          <p:cNvPr id="408" name="Google Shape;408;g3f16c2b774f_3_232"/>
          <p:cNvSpPr/>
          <p:nvPr/>
        </p:nvSpPr>
        <p:spPr>
          <a:xfrm>
            <a:off x="6400800" y="18288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16c2b774f_3_232"/>
          <p:cNvSpPr txBox="1"/>
          <p:nvPr/>
        </p:nvSpPr>
        <p:spPr>
          <a:xfrm>
            <a:off x="672084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레시피</a:t>
            </a:r>
            <a:endParaRPr/>
          </a:p>
        </p:txBody>
      </p:sp>
      <p:sp>
        <p:nvSpPr>
          <p:cNvPr id="410" name="Google Shape;410;g3f16c2b774f_3_232"/>
          <p:cNvSpPr txBox="1"/>
          <p:nvPr/>
        </p:nvSpPr>
        <p:spPr>
          <a:xfrm>
            <a:off x="6720840" y="25328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고른 재료와 요리 스타일을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서버에 전달해 맞춤 메뉴 생성</a:t>
            </a:r>
            <a:endParaRPr/>
          </a:p>
        </p:txBody>
      </p:sp>
      <p:sp>
        <p:nvSpPr>
          <p:cNvPr id="411" name="Google Shape;411;g3f16c2b774f_3_232"/>
          <p:cNvSpPr/>
          <p:nvPr/>
        </p:nvSpPr>
        <p:spPr>
          <a:xfrm>
            <a:off x="777240" y="38862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16c2b774f_3_232"/>
          <p:cNvSpPr txBox="1"/>
          <p:nvPr/>
        </p:nvSpPr>
        <p:spPr>
          <a:xfrm>
            <a:off x="1097280" y="41148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영양 분석</a:t>
            </a:r>
            <a:endParaRPr/>
          </a:p>
        </p:txBody>
      </p:sp>
      <p:sp>
        <p:nvSpPr>
          <p:cNvPr id="413" name="Google Shape;413;g3f16c2b774f_3_232"/>
          <p:cNvSpPr txBox="1"/>
          <p:nvPr/>
        </p:nvSpPr>
        <p:spPr>
          <a:xfrm>
            <a:off x="1097280" y="45902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음식명 또는 사진을 업로드하면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100g 기준 영양 정보 분석</a:t>
            </a:r>
            <a:endParaRPr/>
          </a:p>
        </p:txBody>
      </p:sp>
      <p:sp>
        <p:nvSpPr>
          <p:cNvPr id="414" name="Google Shape;414;g3f16c2b774f_3_232"/>
          <p:cNvSpPr/>
          <p:nvPr/>
        </p:nvSpPr>
        <p:spPr>
          <a:xfrm>
            <a:off x="6400800" y="38862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16c2b774f_3_232"/>
          <p:cNvSpPr txBox="1"/>
          <p:nvPr/>
        </p:nvSpPr>
        <p:spPr>
          <a:xfrm>
            <a:off x="6720840" y="41148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식단 추천</a:t>
            </a:r>
            <a:endParaRPr/>
          </a:p>
        </p:txBody>
      </p:sp>
      <p:sp>
        <p:nvSpPr>
          <p:cNvPr id="416" name="Google Shape;416;g3f16c2b774f_3_232"/>
          <p:cNvSpPr txBox="1"/>
          <p:nvPr/>
        </p:nvSpPr>
        <p:spPr>
          <a:xfrm>
            <a:off x="6720840" y="45902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Gemini가 아침/점심/저녁 구성을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 단위 식단으로 생성</a:t>
            </a:r>
            <a:endParaRPr/>
          </a:p>
        </p:txBody>
      </p:sp>
      <p:sp>
        <p:nvSpPr>
          <p:cNvPr id="417" name="Google Shape;417;g3f16c2b774f_3_232"/>
          <p:cNvSpPr txBox="1"/>
          <p:nvPr/>
        </p:nvSpPr>
        <p:spPr>
          <a:xfrm>
            <a:off x="822960" y="61447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UX: AI 응답 지연 가능성을 안내하고, 실패 시 대체 응답이나 명확한 에러 메시지를 제공</a:t>
            </a:r>
            <a:endParaRPr/>
          </a:p>
        </p:txBody>
      </p:sp>
      <p:sp>
        <p:nvSpPr>
          <p:cNvPr id="418" name="Google Shape;418;g3f16c2b774f_3_232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de1b5ec3f_10_0"/>
          <p:cNvSpPr/>
          <p:nvPr/>
        </p:nvSpPr>
        <p:spPr>
          <a:xfrm>
            <a:off x="0" y="0"/>
            <a:ext cx="1219137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ede1b5ec3f_10_0"/>
          <p:cNvSpPr txBox="1"/>
          <p:nvPr/>
        </p:nvSpPr>
        <p:spPr>
          <a:xfrm>
            <a:off x="594344" y="411480"/>
            <a:ext cx="100581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</a:t>
            </a:r>
            <a:endParaRPr/>
          </a:p>
        </p:txBody>
      </p:sp>
      <p:sp>
        <p:nvSpPr>
          <p:cNvPr id="425" name="Google Shape;425;g3ede1b5ec3f_10_0"/>
          <p:cNvSpPr txBox="1"/>
          <p:nvPr/>
        </p:nvSpPr>
        <p:spPr>
          <a:xfrm>
            <a:off x="621775" y="950976"/>
            <a:ext cx="9600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접속해보세요 — 테스트 계정 제공</a:t>
            </a:r>
            <a:endParaRPr/>
          </a:p>
        </p:txBody>
      </p:sp>
      <p:sp>
        <p:nvSpPr>
          <p:cNvPr id="426" name="Google Shape;426;g3ede1b5ec3f_10_0"/>
          <p:cNvSpPr/>
          <p:nvPr/>
        </p:nvSpPr>
        <p:spPr>
          <a:xfrm>
            <a:off x="621775" y="1353312"/>
            <a:ext cx="1005813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ede1b5ec3f_10_0"/>
          <p:cNvSpPr/>
          <p:nvPr/>
        </p:nvSpPr>
        <p:spPr>
          <a:xfrm>
            <a:off x="914376" y="2194560"/>
            <a:ext cx="3200315" cy="36576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de1b5ec3f_10_0"/>
          <p:cNvSpPr txBox="1"/>
          <p:nvPr/>
        </p:nvSpPr>
        <p:spPr>
          <a:xfrm>
            <a:off x="914376" y="2468880"/>
            <a:ext cx="32003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모바일에서 QR 스캔</a:t>
            </a:r>
            <a:endParaRPr/>
          </a:p>
        </p:txBody>
      </p:sp>
      <p:sp>
        <p:nvSpPr>
          <p:cNvPr id="429" name="Google Shape;429;g3ede1b5ec3f_10_0"/>
          <p:cNvSpPr/>
          <p:nvPr/>
        </p:nvSpPr>
        <p:spPr>
          <a:xfrm>
            <a:off x="1325845" y="3017520"/>
            <a:ext cx="2377377" cy="2377440"/>
          </a:xfrm>
          <a:prstGeom prst="rect">
            <a:avLst/>
          </a:prstGeom>
          <a:solidFill>
            <a:srgbClr val="191C20"/>
          </a:solidFill>
          <a:ln cap="flat" cmpd="sng" w="19050">
            <a:solidFill>
              <a:srgbClr val="CDF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de1b5ec3f_10_0"/>
          <p:cNvSpPr txBox="1"/>
          <p:nvPr/>
        </p:nvSpPr>
        <p:spPr>
          <a:xfrm>
            <a:off x="1325845" y="3017520"/>
            <a:ext cx="2377377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[ QR 코드 자리 ]</a:t>
            </a:r>
            <a:endParaRPr/>
          </a:p>
        </p:txBody>
      </p:sp>
      <p:sp>
        <p:nvSpPr>
          <p:cNvPr id="431" name="Google Shape;431;g3ede1b5ec3f_10_0"/>
          <p:cNvSpPr txBox="1"/>
          <p:nvPr/>
        </p:nvSpPr>
        <p:spPr>
          <a:xfrm>
            <a:off x="5029066" y="2194560"/>
            <a:ext cx="640062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 주소</a:t>
            </a:r>
            <a:endParaRPr/>
          </a:p>
        </p:txBody>
      </p:sp>
      <p:sp>
        <p:nvSpPr>
          <p:cNvPr id="432" name="Google Shape;432;g3ede1b5ec3f_10_0"/>
          <p:cNvSpPr txBox="1"/>
          <p:nvPr/>
        </p:nvSpPr>
        <p:spPr>
          <a:xfrm>
            <a:off x="5029075" y="2560325"/>
            <a:ext cx="5943300" cy="3078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https://naengbuhae-hazel.vercel.app/login</a:t>
            </a:r>
            <a:endParaRPr/>
          </a:p>
        </p:txBody>
      </p:sp>
      <p:sp>
        <p:nvSpPr>
          <p:cNvPr id="433" name="Google Shape;433;g3ede1b5ec3f_10_0"/>
          <p:cNvSpPr/>
          <p:nvPr/>
        </p:nvSpPr>
        <p:spPr>
          <a:xfrm>
            <a:off x="5029075" y="3566149"/>
            <a:ext cx="5943300" cy="21159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de1b5ec3f_10_0"/>
          <p:cNvSpPr txBox="1"/>
          <p:nvPr/>
        </p:nvSpPr>
        <p:spPr>
          <a:xfrm>
            <a:off x="5303379" y="3749040"/>
            <a:ext cx="54862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계정</a:t>
            </a:r>
            <a:endParaRPr/>
          </a:p>
        </p:txBody>
      </p:sp>
      <p:sp>
        <p:nvSpPr>
          <p:cNvPr id="435" name="Google Shape;435;g3ede1b5ec3f_10_0"/>
          <p:cNvSpPr txBox="1"/>
          <p:nvPr/>
        </p:nvSpPr>
        <p:spPr>
          <a:xfrm>
            <a:off x="5394816" y="4206240"/>
            <a:ext cx="177550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: </a:t>
            </a:r>
            <a:r>
              <a:rPr b="1" lang="en-US" sz="20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test123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: </a:t>
            </a:r>
            <a:r>
              <a:rPr b="1" lang="en-US" sz="20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test1234!</a:t>
            </a:r>
            <a:endParaRPr b="1" sz="2000">
              <a:solidFill>
                <a:srgbClr val="F2F3E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g3ede1b5ec3f_10_0"/>
          <p:cNvSpPr txBox="1"/>
          <p:nvPr/>
        </p:nvSpPr>
        <p:spPr>
          <a:xfrm>
            <a:off x="10698195" y="6428232"/>
            <a:ext cx="9143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09</a:t>
            </a:r>
            <a:endParaRPr/>
          </a:p>
        </p:txBody>
      </p:sp>
      <p:sp>
        <p:nvSpPr>
          <p:cNvPr id="437" name="Google Shape;437;g3ede1b5ec3f_10_0"/>
          <p:cNvSpPr/>
          <p:nvPr/>
        </p:nvSpPr>
        <p:spPr>
          <a:xfrm>
            <a:off x="640063" y="5897880"/>
            <a:ext cx="10881070" cy="50292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ede1b5ec3f_10_0"/>
          <p:cNvSpPr txBox="1"/>
          <p:nvPr/>
        </p:nvSpPr>
        <p:spPr>
          <a:xfrm>
            <a:off x="640063" y="5897880"/>
            <a:ext cx="1088107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💡 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로그인하고 식재료 등록·AI 레시피 추천·식단 추천까지 사용해보실 수 있어요</a:t>
            </a:r>
            <a:endParaRPr/>
          </a:p>
        </p:txBody>
      </p:sp>
      <p:pic>
        <p:nvPicPr>
          <p:cNvPr id="439" name="Google Shape;439;g3ede1b5ec3f_1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839" y="2851213"/>
            <a:ext cx="2600256" cy="2600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443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2F3EE"/>
                </a:solidFill>
                <a:latin typeface="Malgun Gothic"/>
              </a:rPr>
              <a:t>시연 — 앱 다운로드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621792" y="950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AEB8"/>
                </a:solidFill>
                <a:latin typeface="Malgun Gothic"/>
              </a:rPr>
              <a:t>APK 다운로드 후 안드로이드 기기에서 설치 — 테스트 계정으로 바로 사용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ounded Rectangle 447"/>
          <p:cNvSpPr/>
          <p:nvPr/>
        </p:nvSpPr>
        <p:spPr>
          <a:xfrm>
            <a:off x="1371600" y="1828800"/>
            <a:ext cx="3657600" cy="4297680"/>
          </a:xfrm>
          <a:prstGeom prst="roundRect">
            <a:avLst/>
          </a:prstGeom>
          <a:solidFill>
            <a:srgbClr val="23272D"/>
          </a:solidFill>
          <a:ln w="10160">
            <a:solidFill>
              <a:srgbClr val="34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1371600" y="2103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DFF00"/>
                </a:solidFill>
                <a:latin typeface="Malgun Gothic"/>
              </a:rPr>
              <a:t>📱  모바일로 QR 스캔</a:t>
            </a:r>
          </a:p>
        </p:txBody>
      </p:sp>
      <p:pic>
        <p:nvPicPr>
          <p:cNvPr id="450" name="Picture 449" descr="apk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606040"/>
            <a:ext cx="2926080" cy="2926080"/>
          </a:xfrm>
          <a:prstGeom prst="rect">
            <a:avLst/>
          </a:prstGeom>
        </p:spPr>
      </p:pic>
      <p:sp>
        <p:nvSpPr>
          <p:cNvPr id="451" name="TextBox 450"/>
          <p:cNvSpPr txBox="1"/>
          <p:nvPr/>
        </p:nvSpPr>
        <p:spPr>
          <a:xfrm>
            <a:off x="1371600" y="5715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AEB8"/>
                </a:solidFill>
                <a:latin typeface="Malgun Gothic"/>
              </a:rPr>
              <a:t>스캔하면 APK가 자동 다운로드됩니다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594360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CEEA"/>
                </a:solidFill>
                <a:latin typeface="Malgun Gothic"/>
              </a:rPr>
              <a:t>v1.0.0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5943600" y="2331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AEB8"/>
                </a:solidFill>
                <a:latin typeface="Malgun Gothic"/>
              </a:rPr>
              <a:t>Naengbuhae Android · 63 MB · Android 5.0+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5943600" y="2743200"/>
            <a:ext cx="5029200" cy="18288"/>
          </a:xfrm>
          <a:prstGeom prst="rect">
            <a:avLst/>
          </a:prstGeom>
          <a:solidFill>
            <a:srgbClr val="34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5943600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DFF00"/>
                </a:solidFill>
                <a:latin typeface="Malgun Gothic"/>
              </a:rPr>
              <a:t>설치 방법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5943600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CEEA"/>
                </a:solidFill>
                <a:latin typeface="Malgun Gothic"/>
              </a:rPr>
              <a:t>1.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6309360" y="32918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2F3EE"/>
                </a:solidFill>
                <a:latin typeface="Malgun Gothic"/>
              </a:rPr>
              <a:t>QR 스캔 → APK 파일 다운로드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5943600" y="36758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CEEA"/>
                </a:solidFill>
                <a:latin typeface="Malgun Gothic"/>
              </a:rPr>
              <a:t>2.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6309360" y="36758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2F3EE"/>
                </a:solidFill>
                <a:latin typeface="Malgun Gothic"/>
              </a:rPr>
              <a:t>다운로드한 파일 탭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5943600" y="4059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CEEA"/>
                </a:solidFill>
                <a:latin typeface="Malgun Gothic"/>
              </a:rPr>
              <a:t>3.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6309360" y="405993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2F3EE"/>
                </a:solidFill>
                <a:latin typeface="Malgun Gothic"/>
              </a:rPr>
              <a:t>"출처를 알 수 없는 앱" 설치 허용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5943600" y="44439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CEEA"/>
                </a:solidFill>
                <a:latin typeface="Malgun Gothic"/>
              </a:rPr>
              <a:t>4.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6309360" y="444398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2F3EE"/>
                </a:solidFill>
                <a:latin typeface="Malgun Gothic"/>
              </a:rPr>
              <a:t>설치 완료 후 테스트 계정으로 로그인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594360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AEB8"/>
                </a:solidFill>
                <a:latin typeface="Malgun Gothic"/>
              </a:rPr>
              <a:t>직접 다운로드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5943600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CEEA"/>
                </a:solidFill>
                <a:latin typeface="Consolas"/>
              </a:rPr>
              <a:t>github.com/MONBRUNO/Naengbuhae_App/releases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A6AEB8"/>
                </a:solidFill>
                <a:latin typeface="Malgun Gothic"/>
              </a:rPr>
              <a:t>냉부해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16c2b774f_3_29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f16c2b774f_3_296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인증, 알림, 보안</a:t>
            </a:r>
            <a:endParaRPr/>
          </a:p>
        </p:txBody>
      </p:sp>
      <p:sp>
        <p:nvSpPr>
          <p:cNvPr id="471" name="Google Shape;471;g3f16c2b774f_3_296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서비스로 쓰기 위한 기본 기반</a:t>
            </a:r>
            <a:endParaRPr/>
          </a:p>
        </p:txBody>
      </p:sp>
      <p:sp>
        <p:nvSpPr>
          <p:cNvPr id="472" name="Google Shape;472;g3f16c2b774f_3_296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16c2b774f_3_296"/>
          <p:cNvSpPr/>
          <p:nvPr/>
        </p:nvSpPr>
        <p:spPr>
          <a:xfrm>
            <a:off x="731520" y="1828800"/>
            <a:ext cx="3474720" cy="4114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16c2b774f_3_296"/>
          <p:cNvSpPr txBox="1"/>
          <p:nvPr/>
        </p:nvSpPr>
        <p:spPr>
          <a:xfrm>
            <a:off x="1051560" y="2148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</a:t>
            </a:r>
            <a:endParaRPr/>
          </a:p>
        </p:txBody>
      </p:sp>
      <p:sp>
        <p:nvSpPr>
          <p:cNvPr id="475" name="Google Shape;475;g3f16c2b774f_3_296"/>
          <p:cNvSpPr txBox="1"/>
          <p:nvPr/>
        </p:nvSpPr>
        <p:spPr>
          <a:xfrm>
            <a:off x="1051560" y="269748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JWT access + refresh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401/403 자동 refresh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Kakao/Naver/Google OAuth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Google 로그인은 Custom Tab</a:t>
            </a:r>
            <a:endParaRPr/>
          </a:p>
        </p:txBody>
      </p:sp>
      <p:sp>
        <p:nvSpPr>
          <p:cNvPr id="476" name="Google Shape;476;g3f16c2b774f_3_296"/>
          <p:cNvSpPr/>
          <p:nvPr/>
        </p:nvSpPr>
        <p:spPr>
          <a:xfrm>
            <a:off x="4480560" y="1828800"/>
            <a:ext cx="3474720" cy="4114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16c2b774f_3_296"/>
          <p:cNvSpPr txBox="1"/>
          <p:nvPr/>
        </p:nvSpPr>
        <p:spPr>
          <a:xfrm>
            <a:off x="4800600" y="2148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</a:t>
            </a:r>
            <a:endParaRPr/>
          </a:p>
        </p:txBody>
      </p:sp>
      <p:sp>
        <p:nvSpPr>
          <p:cNvPr id="478" name="Google Shape;478;g3f16c2b774f_3_296"/>
          <p:cNvSpPr txBox="1"/>
          <p:nvPr/>
        </p:nvSpPr>
        <p:spPr>
          <a:xfrm>
            <a:off x="4800600" y="269748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유통기한 로컬 알림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식단 시간 알림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이벤트 FCM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내 알림 센터</a:t>
            </a:r>
            <a:endParaRPr/>
          </a:p>
        </p:txBody>
      </p:sp>
      <p:sp>
        <p:nvSpPr>
          <p:cNvPr id="479" name="Google Shape;479;g3f16c2b774f_3_296"/>
          <p:cNvSpPr/>
          <p:nvPr/>
        </p:nvSpPr>
        <p:spPr>
          <a:xfrm>
            <a:off x="8229600" y="1828800"/>
            <a:ext cx="3200400" cy="4114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16c2b774f_3_296"/>
          <p:cNvSpPr txBox="1"/>
          <p:nvPr/>
        </p:nvSpPr>
        <p:spPr>
          <a:xfrm>
            <a:off x="8549640" y="2148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안전성</a:t>
            </a:r>
            <a:endParaRPr/>
          </a:p>
        </p:txBody>
      </p:sp>
      <p:sp>
        <p:nvSpPr>
          <p:cNvPr id="481" name="Google Shape;481;g3f16c2b774f_3_296"/>
          <p:cNvSpPr txBox="1"/>
          <p:nvPr/>
        </p:nvSpPr>
        <p:spPr>
          <a:xfrm>
            <a:off x="8549640" y="269748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CORS origin 제한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환경변수로 민감 정보 분리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Rate limit 적용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Sentry ERROR 레벨 수집</a:t>
            </a:r>
            <a:endParaRPr/>
          </a:p>
        </p:txBody>
      </p:sp>
      <p:sp>
        <p:nvSpPr>
          <p:cNvPr id="482" name="Google Shape;482;g3f16c2b774f_3_296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11</a:t>
            </a:r>
            <a:endParaRPr/>
          </a:p>
        </p:txBody>
      </p:sp>
      <p:sp>
        <p:nvSpPr>
          <p:cNvPr id="483" name="Google Shape;483;g3f16c2b774f_3_296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5225">
            <a:solidFill>
              <a:srgbClr val="CDF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16c2b774f_3_296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💡  </a:t>
            </a:r>
            <a:r>
              <a:rPr b="1" lang="en-US" sz="14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3초 만에 시작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—   평소 쓰던 SNS 계정 그대로, 별도 회원가입 없이 OAuth로 즉시 로그인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16c2b774f_3_3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16c2b774f_3_315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구조</a:t>
            </a:r>
            <a:endParaRPr/>
          </a:p>
        </p:txBody>
      </p:sp>
      <p:sp>
        <p:nvSpPr>
          <p:cNvPr id="491" name="Google Shape;491;g3f16c2b774f_3_315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저장소와 개인 저장소를 함께 관리</a:t>
            </a:r>
            <a:endParaRPr/>
          </a:p>
        </p:txBody>
      </p:sp>
      <p:sp>
        <p:nvSpPr>
          <p:cNvPr id="492" name="Google Shape;492;g3f16c2b774f_3_315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16c2b774f_3_315"/>
          <p:cNvSpPr/>
          <p:nvPr/>
        </p:nvSpPr>
        <p:spPr>
          <a:xfrm>
            <a:off x="731520" y="1783080"/>
            <a:ext cx="10698480" cy="429768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16c2b774f_3_315"/>
          <p:cNvSpPr txBox="1"/>
          <p:nvPr/>
        </p:nvSpPr>
        <p:spPr>
          <a:xfrm>
            <a:off x="1051560" y="21488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</a:t>
            </a:r>
            <a:endParaRPr/>
          </a:p>
        </p:txBody>
      </p:sp>
      <p:sp>
        <p:nvSpPr>
          <p:cNvPr id="495" name="Google Shape;495;g3f16c2b774f_3_315"/>
          <p:cNvSpPr txBox="1"/>
          <p:nvPr/>
        </p:nvSpPr>
        <p:spPr>
          <a:xfrm>
            <a:off x="2148839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</a:t>
            </a:r>
            <a:endParaRPr/>
          </a:p>
        </p:txBody>
      </p:sp>
      <p:sp>
        <p:nvSpPr>
          <p:cNvPr id="496" name="Google Shape;496;g3f16c2b774f_3_315"/>
          <p:cNvSpPr txBox="1"/>
          <p:nvPr/>
        </p:nvSpPr>
        <p:spPr>
          <a:xfrm>
            <a:off x="3794759" y="2148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주소/산출물</a:t>
            </a:r>
            <a:endParaRPr/>
          </a:p>
        </p:txBody>
      </p:sp>
      <p:sp>
        <p:nvSpPr>
          <p:cNvPr id="497" name="Google Shape;497;g3f16c2b774f_3_315"/>
          <p:cNvSpPr txBox="1"/>
          <p:nvPr/>
        </p:nvSpPr>
        <p:spPr>
          <a:xfrm>
            <a:off x="7635240" y="214884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브랜치</a:t>
            </a:r>
            <a:endParaRPr/>
          </a:p>
        </p:txBody>
      </p:sp>
      <p:sp>
        <p:nvSpPr>
          <p:cNvPr id="498" name="Google Shape;498;g3f16c2b774f_3_315"/>
          <p:cNvSpPr txBox="1"/>
          <p:nvPr/>
        </p:nvSpPr>
        <p:spPr>
          <a:xfrm>
            <a:off x="8778240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비고</a:t>
            </a:r>
            <a:endParaRPr/>
          </a:p>
        </p:txBody>
      </p:sp>
      <p:sp>
        <p:nvSpPr>
          <p:cNvPr id="499" name="Google Shape;499;g3f16c2b774f_3_315"/>
          <p:cNvSpPr txBox="1"/>
          <p:nvPr/>
        </p:nvSpPr>
        <p:spPr>
          <a:xfrm>
            <a:off x="1051560" y="26517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</a:t>
            </a:r>
            <a:endParaRPr/>
          </a:p>
        </p:txBody>
      </p:sp>
      <p:sp>
        <p:nvSpPr>
          <p:cNvPr id="500" name="Google Shape;500;g3f16c2b774f_3_315"/>
          <p:cNvSpPr txBox="1"/>
          <p:nvPr/>
        </p:nvSpPr>
        <p:spPr>
          <a:xfrm>
            <a:off x="2148839" y="26517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</a:t>
            </a:r>
            <a:endParaRPr/>
          </a:p>
        </p:txBody>
      </p:sp>
      <p:sp>
        <p:nvSpPr>
          <p:cNvPr id="501" name="Google Shape;501;g3f16c2b774f_3_315"/>
          <p:cNvSpPr txBox="1"/>
          <p:nvPr/>
        </p:nvSpPr>
        <p:spPr>
          <a:xfrm>
            <a:off x="3794759" y="26517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https://naengbuhae.onrender.com</a:t>
            </a:r>
            <a:endParaRPr/>
          </a:p>
        </p:txBody>
      </p:sp>
      <p:sp>
        <p:nvSpPr>
          <p:cNvPr id="502" name="Google Shape;502;g3f16c2b774f_3_315"/>
          <p:cNvSpPr txBox="1"/>
          <p:nvPr/>
        </p:nvSpPr>
        <p:spPr>
          <a:xfrm>
            <a:off x="7635240" y="265176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develop</a:t>
            </a:r>
            <a:endParaRPr/>
          </a:p>
        </p:txBody>
      </p:sp>
      <p:sp>
        <p:nvSpPr>
          <p:cNvPr id="503" name="Google Shape;503;g3f16c2b774f_3_315"/>
          <p:cNvSpPr txBox="1"/>
          <p:nvPr/>
        </p:nvSpPr>
        <p:spPr>
          <a:xfrm>
            <a:off x="8778240" y="265176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 + personal push</a:t>
            </a:r>
            <a:endParaRPr/>
          </a:p>
        </p:txBody>
      </p:sp>
      <p:sp>
        <p:nvSpPr>
          <p:cNvPr id="504" name="Google Shape;504;g3f16c2b774f_3_315"/>
          <p:cNvSpPr txBox="1"/>
          <p:nvPr/>
        </p:nvSpPr>
        <p:spPr>
          <a:xfrm>
            <a:off x="1051560" y="32461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</a:t>
            </a:r>
            <a:endParaRPr/>
          </a:p>
        </p:txBody>
      </p:sp>
      <p:sp>
        <p:nvSpPr>
          <p:cNvPr id="505" name="Google Shape;505;g3f16c2b774f_3_315"/>
          <p:cNvSpPr txBox="1"/>
          <p:nvPr/>
        </p:nvSpPr>
        <p:spPr>
          <a:xfrm>
            <a:off x="2148839" y="32461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</a:t>
            </a:r>
            <a:endParaRPr/>
          </a:p>
        </p:txBody>
      </p:sp>
      <p:sp>
        <p:nvSpPr>
          <p:cNvPr id="506" name="Google Shape;506;g3f16c2b774f_3_315"/>
          <p:cNvSpPr txBox="1"/>
          <p:nvPr/>
        </p:nvSpPr>
        <p:spPr>
          <a:xfrm>
            <a:off x="3794759" y="324612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https://naengbuhae-hazel.vercel.app</a:t>
            </a:r>
            <a:endParaRPr/>
          </a:p>
        </p:txBody>
      </p:sp>
      <p:sp>
        <p:nvSpPr>
          <p:cNvPr id="507" name="Google Shape;507;g3f16c2b774f_3_315"/>
          <p:cNvSpPr txBox="1"/>
          <p:nvPr/>
        </p:nvSpPr>
        <p:spPr>
          <a:xfrm>
            <a:off x="7635240" y="32461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/>
          </a:p>
        </p:txBody>
      </p:sp>
      <p:sp>
        <p:nvSpPr>
          <p:cNvPr id="508" name="Google Shape;508;g3f16c2b774f_3_315"/>
          <p:cNvSpPr txBox="1"/>
          <p:nvPr/>
        </p:nvSpPr>
        <p:spPr>
          <a:xfrm>
            <a:off x="8778240" y="32461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 + personal push</a:t>
            </a:r>
            <a:endParaRPr/>
          </a:p>
        </p:txBody>
      </p:sp>
      <p:sp>
        <p:nvSpPr>
          <p:cNvPr id="509" name="Google Shape;509;g3f16c2b774f_3_315"/>
          <p:cNvSpPr txBox="1"/>
          <p:nvPr/>
        </p:nvSpPr>
        <p:spPr>
          <a:xfrm>
            <a:off x="1051560" y="38404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</a:t>
            </a:r>
            <a:endParaRPr/>
          </a:p>
        </p:txBody>
      </p:sp>
      <p:sp>
        <p:nvSpPr>
          <p:cNvPr id="510" name="Google Shape;510;g3f16c2b774f_3_315"/>
          <p:cNvSpPr txBox="1"/>
          <p:nvPr/>
        </p:nvSpPr>
        <p:spPr>
          <a:xfrm>
            <a:off x="2148839" y="38404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</a:t>
            </a:r>
            <a:endParaRPr/>
          </a:p>
        </p:txBody>
      </p:sp>
      <p:sp>
        <p:nvSpPr>
          <p:cNvPr id="511" name="Google Shape;511;g3f16c2b774f_3_315"/>
          <p:cNvSpPr txBox="1"/>
          <p:nvPr/>
        </p:nvSpPr>
        <p:spPr>
          <a:xfrm>
            <a:off x="3794759" y="38404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app-release.apk 직접 배포</a:t>
            </a:r>
            <a:endParaRPr/>
          </a:p>
        </p:txBody>
      </p:sp>
      <p:sp>
        <p:nvSpPr>
          <p:cNvPr id="512" name="Google Shape;512;g3f16c2b774f_3_315"/>
          <p:cNvSpPr txBox="1"/>
          <p:nvPr/>
        </p:nvSpPr>
        <p:spPr>
          <a:xfrm>
            <a:off x="7635240" y="384048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/>
          </a:p>
        </p:txBody>
      </p:sp>
      <p:sp>
        <p:nvSpPr>
          <p:cNvPr id="513" name="Google Shape;513;g3f16c2b774f_3_315"/>
          <p:cNvSpPr txBox="1"/>
          <p:nvPr/>
        </p:nvSpPr>
        <p:spPr>
          <a:xfrm>
            <a:off x="8778240" y="3840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MONBRUNO repo</a:t>
            </a:r>
            <a:endParaRPr/>
          </a:p>
        </p:txBody>
      </p:sp>
      <p:sp>
        <p:nvSpPr>
          <p:cNvPr id="514" name="Google Shape;514;g3f16c2b774f_3_315"/>
          <p:cNvSpPr txBox="1"/>
          <p:nvPr/>
        </p:nvSpPr>
        <p:spPr>
          <a:xfrm>
            <a:off x="1051560" y="44348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endParaRPr/>
          </a:p>
        </p:txBody>
      </p:sp>
      <p:sp>
        <p:nvSpPr>
          <p:cNvPr id="515" name="Google Shape;515;g3f16c2b774f_3_315"/>
          <p:cNvSpPr txBox="1"/>
          <p:nvPr/>
        </p:nvSpPr>
        <p:spPr>
          <a:xfrm>
            <a:off x="2148839" y="4434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/>
          </a:p>
        </p:txBody>
      </p:sp>
      <p:sp>
        <p:nvSpPr>
          <p:cNvPr id="516" name="Google Shape;516;g3f16c2b774f_3_315"/>
          <p:cNvSpPr txBox="1"/>
          <p:nvPr/>
        </p:nvSpPr>
        <p:spPr>
          <a:xfrm>
            <a:off x="3794759" y="4434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517" name="Google Shape;517;g3f16c2b774f_3_315"/>
          <p:cNvSpPr txBox="1"/>
          <p:nvPr/>
        </p:nvSpPr>
        <p:spPr>
          <a:xfrm>
            <a:off x="7635240" y="443484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production</a:t>
            </a:r>
            <a:endParaRPr/>
          </a:p>
        </p:txBody>
      </p:sp>
      <p:sp>
        <p:nvSpPr>
          <p:cNvPr id="518" name="Google Shape;518;g3f16c2b774f_3_315"/>
          <p:cNvSpPr txBox="1"/>
          <p:nvPr/>
        </p:nvSpPr>
        <p:spPr>
          <a:xfrm>
            <a:off x="8778240" y="4434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pause 주의</a:t>
            </a:r>
            <a:endParaRPr/>
          </a:p>
        </p:txBody>
      </p:sp>
      <p:sp>
        <p:nvSpPr>
          <p:cNvPr id="519" name="Google Shape;519;g3f16c2b774f_3_315"/>
          <p:cNvSpPr txBox="1"/>
          <p:nvPr/>
        </p:nvSpPr>
        <p:spPr>
          <a:xfrm>
            <a:off x="1051560" y="50292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/>
          </a:p>
        </p:txBody>
      </p:sp>
      <p:sp>
        <p:nvSpPr>
          <p:cNvPr id="520" name="Google Shape;520;g3f16c2b774f_3_315"/>
          <p:cNvSpPr txBox="1"/>
          <p:nvPr/>
        </p:nvSpPr>
        <p:spPr>
          <a:xfrm>
            <a:off x="2148839" y="50292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</a:t>
            </a:r>
            <a:endParaRPr/>
          </a:p>
        </p:txBody>
      </p:sp>
      <p:sp>
        <p:nvSpPr>
          <p:cNvPr id="521" name="Google Shape;521;g3f16c2b774f_3_315"/>
          <p:cNvSpPr txBox="1"/>
          <p:nvPr/>
        </p:nvSpPr>
        <p:spPr>
          <a:xfrm>
            <a:off x="3794759" y="50292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kimchi9-cap-refrigerator.hf.space</a:t>
            </a:r>
            <a:endParaRPr/>
          </a:p>
        </p:txBody>
      </p:sp>
      <p:sp>
        <p:nvSpPr>
          <p:cNvPr id="522" name="Google Shape;522;g3f16c2b774f_3_315"/>
          <p:cNvSpPr txBox="1"/>
          <p:nvPr/>
        </p:nvSpPr>
        <p:spPr>
          <a:xfrm>
            <a:off x="7635240" y="5029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</a:t>
            </a:r>
            <a:endParaRPr/>
          </a:p>
        </p:txBody>
      </p:sp>
      <p:sp>
        <p:nvSpPr>
          <p:cNvPr id="523" name="Google Shape;523;g3f16c2b774f_3_315"/>
          <p:cNvSpPr txBox="1"/>
          <p:nvPr/>
        </p:nvSpPr>
        <p:spPr>
          <a:xfrm>
            <a:off x="8778240" y="50292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pause 주의</a:t>
            </a:r>
            <a:endParaRPr/>
          </a:p>
        </p:txBody>
      </p:sp>
      <p:sp>
        <p:nvSpPr>
          <p:cNvPr id="524" name="Google Shape;524;g3f16c2b774f_3_315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16c2b774f_3_35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16c2b774f_3_354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에러 모니터링</a:t>
            </a:r>
            <a:endParaRPr/>
          </a:p>
        </p:txBody>
      </p:sp>
      <p:sp>
        <p:nvSpPr>
          <p:cNvPr id="531" name="Google Shape;531;g3f16c2b774f_3_354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Sentry — 시연 중 사고 대응</a:t>
            </a:r>
            <a:endParaRPr/>
          </a:p>
        </p:txBody>
      </p:sp>
      <p:sp>
        <p:nvSpPr>
          <p:cNvPr id="532" name="Google Shape;532;g3f16c2b774f_3_354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16c2b774f_3_354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16c2b774f_3_354"/>
          <p:cNvSpPr/>
          <p:nvPr/>
        </p:nvSpPr>
        <p:spPr>
          <a:xfrm>
            <a:off x="868680" y="2057400"/>
            <a:ext cx="73152" cy="457200"/>
          </a:xfrm>
          <a:prstGeom prst="rect">
            <a:avLst/>
          </a:prstGeom>
          <a:solidFill>
            <a:srgbClr val="FF5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16c2b774f_3_354"/>
          <p:cNvSpPr txBox="1"/>
          <p:nvPr/>
        </p:nvSpPr>
        <p:spPr>
          <a:xfrm>
            <a:off x="1051560" y="20299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붙였나?</a:t>
            </a:r>
            <a:endParaRPr/>
          </a:p>
        </p:txBody>
      </p:sp>
      <p:sp>
        <p:nvSpPr>
          <p:cNvPr id="536" name="Google Shape;536;g3f16c2b774f_3_354"/>
          <p:cNvSpPr txBox="1"/>
          <p:nvPr/>
        </p:nvSpPr>
        <p:spPr>
          <a:xfrm>
            <a:off x="1051560" y="25146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● 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직후 시연 · 평가 단계에서 에러를 빠르게 인지하기 위함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● 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"안 돼요"라고 말하기 전에 알람으로 먼저 알아채는 구조</a:t>
            </a:r>
            <a:endParaRPr/>
          </a:p>
        </p:txBody>
      </p:sp>
      <p:sp>
        <p:nvSpPr>
          <p:cNvPr id="537" name="Google Shape;537;g3f16c2b774f_3_354"/>
          <p:cNvSpPr/>
          <p:nvPr/>
        </p:nvSpPr>
        <p:spPr>
          <a:xfrm>
            <a:off x="640080" y="3429000"/>
            <a:ext cx="5303520" cy="27432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f16c2b774f_3_354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🪶  Backend (Spring Boot)</a:t>
            </a:r>
            <a:endParaRPr/>
          </a:p>
        </p:txBody>
      </p:sp>
      <p:sp>
        <p:nvSpPr>
          <p:cNvPr id="539" name="Google Shape;539;g3f16c2b774f_3_354"/>
          <p:cNvSpPr txBox="1"/>
          <p:nvPr/>
        </p:nvSpPr>
        <p:spPr>
          <a:xfrm>
            <a:off x="914400" y="425196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sentry-spring-boot-starter-jakarta 7.21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3E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sentry.environment=prod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send-default-pii=false   (개인정보 보호)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sentry.logging.minimum-event-level=error</a:t>
            </a:r>
            <a:endParaRPr/>
          </a:p>
        </p:txBody>
      </p:sp>
      <p:sp>
        <p:nvSpPr>
          <p:cNvPr id="540" name="Google Shape;540;g3f16c2b774f_3_354"/>
          <p:cNvSpPr/>
          <p:nvPr/>
        </p:nvSpPr>
        <p:spPr>
          <a:xfrm>
            <a:off x="6217920" y="3429000"/>
            <a:ext cx="5303520" cy="27432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16c2b774f_3_354"/>
          <p:cNvSpPr txBox="1"/>
          <p:nvPr/>
        </p:nvSpPr>
        <p:spPr>
          <a:xfrm>
            <a:off x="6492240" y="3657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⚛️  Web (React + Vite)</a:t>
            </a:r>
            <a:endParaRPr/>
          </a:p>
        </p:txBody>
      </p:sp>
      <p:sp>
        <p:nvSpPr>
          <p:cNvPr id="542" name="Google Shape;542;g3f16c2b774f_3_354"/>
          <p:cNvSpPr txBox="1"/>
          <p:nvPr/>
        </p:nvSpPr>
        <p:spPr>
          <a:xfrm>
            <a:off x="6492240" y="425196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@sentry/react 8.42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3E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VITE_SENTRY_DSN 환경변수 (build-time)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PROD 빌드일 때만 init()   (dev 노이즈 차단)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tracesSampleRate: 0   (에러만 수집)</a:t>
            </a:r>
            <a:endParaRPr/>
          </a:p>
        </p:txBody>
      </p:sp>
      <p:sp>
        <p:nvSpPr>
          <p:cNvPr id="543" name="Google Shape;543;g3f16c2b774f_3_354"/>
          <p:cNvSpPr txBox="1"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 무료 한도(5K events/월) 보호 위해 성능 트레이스는 OFF, 에러만 캡쳐</a:t>
            </a:r>
            <a:endParaRPr/>
          </a:p>
        </p:txBody>
      </p:sp>
      <p:sp>
        <p:nvSpPr>
          <p:cNvPr id="544" name="Google Shape;544;g3f16c2b774f_3_354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16c2b774f_3_37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16c2b774f_3_373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중 발견한 이슈와 대응</a:t>
            </a:r>
            <a:endParaRPr/>
          </a:p>
        </p:txBody>
      </p:sp>
      <p:sp>
        <p:nvSpPr>
          <p:cNvPr id="551" name="Google Shape;551;g3f16c2b774f_3_373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배포 환경에서 특히 중요한 체크 포인트</a:t>
            </a:r>
            <a:endParaRPr/>
          </a:p>
        </p:txBody>
      </p:sp>
      <p:sp>
        <p:nvSpPr>
          <p:cNvPr id="552" name="Google Shape;552;g3f16c2b774f_3_373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16c2b774f_3_373"/>
          <p:cNvSpPr/>
          <p:nvPr/>
        </p:nvSpPr>
        <p:spPr>
          <a:xfrm>
            <a:off x="731520" y="1783080"/>
            <a:ext cx="10698480" cy="8229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16c2b774f_3_373"/>
          <p:cNvSpPr txBox="1"/>
          <p:nvPr/>
        </p:nvSpPr>
        <p:spPr>
          <a:xfrm>
            <a:off x="1051560" y="192938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 paused</a:t>
            </a:r>
            <a:endParaRPr/>
          </a:p>
        </p:txBody>
      </p:sp>
      <p:sp>
        <p:nvSpPr>
          <p:cNvPr id="555" name="Google Shape;555;g3f16c2b774f_3_373"/>
          <p:cNvSpPr txBox="1"/>
          <p:nvPr/>
        </p:nvSpPr>
        <p:spPr>
          <a:xfrm>
            <a:off x="3154680" y="19293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DB가 pause되면 Hibernate가 dialect를 판단하지 못해 백엔드 부팅 실패</a:t>
            </a:r>
            <a:endParaRPr/>
          </a:p>
        </p:txBody>
      </p:sp>
      <p:sp>
        <p:nvSpPr>
          <p:cNvPr id="556" name="Google Shape;556;g3f16c2b774f_3_373"/>
          <p:cNvSpPr txBox="1"/>
          <p:nvPr/>
        </p:nvSpPr>
        <p:spPr>
          <a:xfrm>
            <a:off x="8046720" y="192938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재개 후 재배포</a:t>
            </a:r>
            <a:endParaRPr/>
          </a:p>
        </p:txBody>
      </p:sp>
      <p:sp>
        <p:nvSpPr>
          <p:cNvPr id="557" name="Google Shape;557;g3f16c2b774f_3_373"/>
          <p:cNvSpPr/>
          <p:nvPr/>
        </p:nvSpPr>
        <p:spPr>
          <a:xfrm>
            <a:off x="731520" y="2862072"/>
            <a:ext cx="10698480" cy="8229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16c2b774f_3_373"/>
          <p:cNvSpPr txBox="1"/>
          <p:nvPr/>
        </p:nvSpPr>
        <p:spPr>
          <a:xfrm>
            <a:off x="1051560" y="300837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paused</a:t>
            </a:r>
            <a:endParaRPr/>
          </a:p>
        </p:txBody>
      </p:sp>
      <p:sp>
        <p:nvSpPr>
          <p:cNvPr id="559" name="Google Shape;559;g3f16c2b774f_3_373"/>
          <p:cNvSpPr txBox="1"/>
          <p:nvPr/>
        </p:nvSpPr>
        <p:spPr>
          <a:xfrm>
            <a:off x="3154680" y="300837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Space가 꺼지면 AI 기능만 503 또는 timeout 발생</a:t>
            </a:r>
            <a:endParaRPr/>
          </a:p>
        </p:txBody>
      </p:sp>
      <p:sp>
        <p:nvSpPr>
          <p:cNvPr id="560" name="Google Shape;560;g3f16c2b774f_3_373"/>
          <p:cNvSpPr txBox="1"/>
          <p:nvPr/>
        </p:nvSpPr>
        <p:spPr>
          <a:xfrm>
            <a:off x="8046720" y="300837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 재시작 후 openapi.json 응답 확인</a:t>
            </a:r>
            <a:endParaRPr/>
          </a:p>
        </p:txBody>
      </p:sp>
      <p:sp>
        <p:nvSpPr>
          <p:cNvPr id="561" name="Google Shape;561;g3f16c2b774f_3_373"/>
          <p:cNvSpPr/>
          <p:nvPr/>
        </p:nvSpPr>
        <p:spPr>
          <a:xfrm>
            <a:off x="731520" y="3941063"/>
            <a:ext cx="10698480" cy="8229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16c2b774f_3_373"/>
          <p:cNvSpPr txBox="1"/>
          <p:nvPr/>
        </p:nvSpPr>
        <p:spPr>
          <a:xfrm>
            <a:off x="1051560" y="40873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cold start</a:t>
            </a:r>
            <a:endParaRPr/>
          </a:p>
        </p:txBody>
      </p:sp>
      <p:sp>
        <p:nvSpPr>
          <p:cNvPr id="563" name="Google Shape;563;g3f16c2b774f_3_373"/>
          <p:cNvSpPr txBox="1"/>
          <p:nvPr/>
        </p:nvSpPr>
        <p:spPr>
          <a:xfrm>
            <a:off x="3154680" y="408736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인스턴스는 첫 요청이 50초 이상 지연될 수 있음</a:t>
            </a:r>
            <a:endParaRPr/>
          </a:p>
        </p:txBody>
      </p:sp>
      <p:sp>
        <p:nvSpPr>
          <p:cNvPr id="564" name="Google Shape;564;g3f16c2b774f_3_373"/>
          <p:cNvSpPr txBox="1"/>
          <p:nvPr/>
        </p:nvSpPr>
        <p:spPr>
          <a:xfrm>
            <a:off x="8046720" y="408736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직전 Restart로 깨우고 Health 확인</a:t>
            </a:r>
            <a:endParaRPr/>
          </a:p>
        </p:txBody>
      </p:sp>
      <p:sp>
        <p:nvSpPr>
          <p:cNvPr id="565" name="Google Shape;565;g3f16c2b774f_3_373"/>
          <p:cNvSpPr/>
          <p:nvPr/>
        </p:nvSpPr>
        <p:spPr>
          <a:xfrm>
            <a:off x="731520" y="5020056"/>
            <a:ext cx="10698480" cy="8229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16c2b774f_3_373"/>
          <p:cNvSpPr txBox="1"/>
          <p:nvPr/>
        </p:nvSpPr>
        <p:spPr>
          <a:xfrm>
            <a:off x="1051560" y="5166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환경변수 누락</a:t>
            </a:r>
            <a:endParaRPr/>
          </a:p>
        </p:txBody>
      </p:sp>
      <p:sp>
        <p:nvSpPr>
          <p:cNvPr id="567" name="Google Shape;567;g3f16c2b774f_3_373"/>
          <p:cNvSpPr txBox="1"/>
          <p:nvPr/>
        </p:nvSpPr>
        <p:spPr>
          <a:xfrm>
            <a:off x="3154680" y="51663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 profile, CORS, OAuth redirect, AI URL 문제 발생 가능</a:t>
            </a:r>
            <a:endParaRPr/>
          </a:p>
        </p:txBody>
      </p:sp>
      <p:sp>
        <p:nvSpPr>
          <p:cNvPr id="568" name="Google Shape;568;g3f16c2b774f_3_373"/>
          <p:cNvSpPr txBox="1"/>
          <p:nvPr/>
        </p:nvSpPr>
        <p:spPr>
          <a:xfrm>
            <a:off x="8046720" y="516636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Render·Vercel 환경변수 체크리스트 관리</a:t>
            </a:r>
            <a:endParaRPr/>
          </a:p>
        </p:txBody>
      </p:sp>
      <p:sp>
        <p:nvSpPr>
          <p:cNvPr id="569" name="Google Shape;569;g3f16c2b774f_3_37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g3ede1b5ec3f_8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133" y="-61564"/>
            <a:ext cx="12349940" cy="69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g3ede1b5ec3f_8_75"/>
          <p:cNvSpPr/>
          <p:nvPr/>
        </p:nvSpPr>
        <p:spPr>
          <a:xfrm>
            <a:off x="0" y="0"/>
            <a:ext cx="1219137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ede1b5ec3f_8_75"/>
          <p:cNvSpPr txBox="1"/>
          <p:nvPr/>
        </p:nvSpPr>
        <p:spPr>
          <a:xfrm>
            <a:off x="594344" y="411480"/>
            <a:ext cx="8046506" cy="42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깃허브 주소</a:t>
            </a:r>
            <a:endParaRPr b="1" sz="2500">
              <a:solidFill>
                <a:srgbClr val="F2F3E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7" name="Google Shape;577;g3ede1b5ec3f_8_75"/>
          <p:cNvSpPr txBox="1"/>
          <p:nvPr/>
        </p:nvSpPr>
        <p:spPr>
          <a:xfrm>
            <a:off x="621775" y="950976"/>
            <a:ext cx="9600944" cy="20621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코드가 올라가 </a:t>
            </a:r>
            <a:r>
              <a:rPr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있는 주소</a:t>
            </a:r>
            <a:endParaRPr b="0" sz="1100">
              <a:solidFill>
                <a:srgbClr val="A6AE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8" name="Google Shape;578;g3ede1b5ec3f_8_75"/>
          <p:cNvSpPr/>
          <p:nvPr/>
        </p:nvSpPr>
        <p:spPr>
          <a:xfrm>
            <a:off x="621775" y="1353312"/>
            <a:ext cx="1005813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ede1b5ec3f_8_75"/>
          <p:cNvSpPr txBox="1"/>
          <p:nvPr/>
        </p:nvSpPr>
        <p:spPr>
          <a:xfrm>
            <a:off x="10698195" y="6428232"/>
            <a:ext cx="914376" cy="1600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15</a:t>
            </a:r>
            <a:endParaRPr b="0" sz="800">
              <a:solidFill>
                <a:srgbClr val="A6AE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0" name="Google Shape;580;g3ede1b5ec3f_8_75"/>
          <p:cNvSpPr/>
          <p:nvPr/>
        </p:nvSpPr>
        <p:spPr>
          <a:xfrm>
            <a:off x="1180202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ede1b5ec3f_8_75"/>
          <p:cNvSpPr/>
          <p:nvPr/>
        </p:nvSpPr>
        <p:spPr>
          <a:xfrm>
            <a:off x="3941575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ede1b5ec3f_8_75"/>
          <p:cNvSpPr/>
          <p:nvPr/>
        </p:nvSpPr>
        <p:spPr>
          <a:xfrm>
            <a:off x="6766381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ede1b5ec3f_8_75"/>
          <p:cNvSpPr/>
          <p:nvPr/>
        </p:nvSpPr>
        <p:spPr>
          <a:xfrm>
            <a:off x="9591186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ede1b5ec3f_8_75"/>
          <p:cNvSpPr txBox="1"/>
          <p:nvPr/>
        </p:nvSpPr>
        <p:spPr>
          <a:xfrm>
            <a:off x="1317357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g3ede1b5ec3f_8_75"/>
          <p:cNvSpPr txBox="1"/>
          <p:nvPr/>
        </p:nvSpPr>
        <p:spPr>
          <a:xfrm>
            <a:off x="4078730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6" name="Google Shape;586;g3ede1b5ec3f_8_75"/>
          <p:cNvSpPr txBox="1"/>
          <p:nvPr/>
        </p:nvSpPr>
        <p:spPr>
          <a:xfrm>
            <a:off x="6903536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7" name="Google Shape;587;g3ede1b5ec3f_8_75"/>
          <p:cNvSpPr txBox="1"/>
          <p:nvPr/>
        </p:nvSpPr>
        <p:spPr>
          <a:xfrm>
            <a:off x="9728342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8" name="Google Shape;588;g3ede1b5ec3f_8_75"/>
          <p:cNvSpPr txBox="1"/>
          <p:nvPr/>
        </p:nvSpPr>
        <p:spPr>
          <a:xfrm>
            <a:off x="1244206" y="3531618"/>
            <a:ext cx="1782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 - MONBRUNO/Naengbuhae_App 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9" name="Google Shape;589;g3ede1b5ec3f_8_75"/>
          <p:cNvSpPr txBox="1"/>
          <p:nvPr/>
        </p:nvSpPr>
        <p:spPr>
          <a:xfrm>
            <a:off x="3982721" y="3602344"/>
            <a:ext cx="1782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GitHub - impactice/Naengbuhae_Team 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0" name="Google Shape;590;g3ede1b5ec3f_8_75"/>
          <p:cNvSpPr txBox="1"/>
          <p:nvPr/>
        </p:nvSpPr>
        <p:spPr>
          <a:xfrm>
            <a:off x="6807527" y="3610481"/>
            <a:ext cx="1782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GitHub - impactice/Naengbuhae_Team_backend at develop 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1" name="Google Shape;591;g3ede1b5ec3f_8_75"/>
          <p:cNvSpPr txBox="1"/>
          <p:nvPr/>
        </p:nvSpPr>
        <p:spPr>
          <a:xfrm>
            <a:off x="9632332" y="3602344"/>
            <a:ext cx="17829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GitHub - Wldgyu/capstone-ai: </a:t>
            </a:r>
            <a:r>
              <a:rPr lang="en-US" sz="1100" u="sng">
                <a:solidFill>
                  <a:schemeClr val="hlink"/>
                </a:solidFill>
                <a:hlinkClick r:id="rId8"/>
              </a:rPr>
              <a:t>캡스톤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 ai</a:t>
            </a:r>
            <a:r>
              <a:rPr lang="en-US" sz="1100" u="sng">
                <a:solidFill>
                  <a:schemeClr val="hlink"/>
                </a:solidFill>
                <a:hlinkClick r:id="rId10"/>
              </a:rPr>
              <a:t>파트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github_white.png" id="592" name="Google Shape;592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1144" y="2132353"/>
            <a:ext cx="892581" cy="74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_white.png" id="593" name="Google Shape;593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32518" y="2132352"/>
            <a:ext cx="892581" cy="74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_white.png" id="594" name="Google Shape;594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57324" y="2132351"/>
            <a:ext cx="892581" cy="74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_white.png" id="595" name="Google Shape;595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82129" y="2132350"/>
            <a:ext cx="892581" cy="744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16c2b774f_3_39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f16c2b774f_3_397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시나리오</a:t>
            </a:r>
            <a:endParaRPr/>
          </a:p>
        </p:txBody>
      </p:sp>
      <p:sp>
        <p:nvSpPr>
          <p:cNvPr id="602" name="Google Shape;602;g3f16c2b774f_3_397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중 실제로 보여줄 순서</a:t>
            </a:r>
            <a:endParaRPr/>
          </a:p>
        </p:txBody>
      </p:sp>
      <p:sp>
        <p:nvSpPr>
          <p:cNvPr id="603" name="Google Shape;603;g3f16c2b774f_3_397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16c2b774f_3_397"/>
          <p:cNvSpPr/>
          <p:nvPr/>
        </p:nvSpPr>
        <p:spPr>
          <a:xfrm>
            <a:off x="77724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f16c2b774f_3_397"/>
          <p:cNvSpPr/>
          <p:nvPr/>
        </p:nvSpPr>
        <p:spPr>
          <a:xfrm>
            <a:off x="137160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f16c2b774f_3_397"/>
          <p:cNvSpPr txBox="1"/>
          <p:nvPr/>
        </p:nvSpPr>
        <p:spPr>
          <a:xfrm>
            <a:off x="137160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607" name="Google Shape;607;g3f16c2b774f_3_397"/>
          <p:cNvSpPr txBox="1"/>
          <p:nvPr/>
        </p:nvSpPr>
        <p:spPr>
          <a:xfrm>
            <a:off x="91440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접속</a:t>
            </a:r>
            <a:endParaRPr/>
          </a:p>
        </p:txBody>
      </p:sp>
      <p:sp>
        <p:nvSpPr>
          <p:cNvPr id="608" name="Google Shape;608;g3f16c2b774f_3_397"/>
          <p:cNvSpPr txBox="1"/>
          <p:nvPr/>
        </p:nvSpPr>
        <p:spPr>
          <a:xfrm>
            <a:off x="932688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 URL 접속 후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/>
          </a:p>
        </p:txBody>
      </p:sp>
      <p:sp>
        <p:nvSpPr>
          <p:cNvPr id="609" name="Google Shape;609;g3f16c2b774f_3_397"/>
          <p:cNvSpPr/>
          <p:nvPr/>
        </p:nvSpPr>
        <p:spPr>
          <a:xfrm>
            <a:off x="301752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f16c2b774f_3_397"/>
          <p:cNvSpPr/>
          <p:nvPr/>
        </p:nvSpPr>
        <p:spPr>
          <a:xfrm>
            <a:off x="361188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f16c2b774f_3_397"/>
          <p:cNvSpPr txBox="1"/>
          <p:nvPr/>
        </p:nvSpPr>
        <p:spPr>
          <a:xfrm>
            <a:off x="361188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612" name="Google Shape;612;g3f16c2b774f_3_397"/>
          <p:cNvSpPr txBox="1"/>
          <p:nvPr/>
        </p:nvSpPr>
        <p:spPr>
          <a:xfrm>
            <a:off x="315468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재료 확인</a:t>
            </a:r>
            <a:endParaRPr/>
          </a:p>
        </p:txBody>
      </p:sp>
      <p:sp>
        <p:nvSpPr>
          <p:cNvPr id="613" name="Google Shape;613;g3f16c2b774f_3_397"/>
          <p:cNvSpPr txBox="1"/>
          <p:nvPr/>
        </p:nvSpPr>
        <p:spPr>
          <a:xfrm>
            <a:off x="3172968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냉장고 식재료와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D-day 확인</a:t>
            </a:r>
            <a:endParaRPr/>
          </a:p>
        </p:txBody>
      </p:sp>
      <p:sp>
        <p:nvSpPr>
          <p:cNvPr id="614" name="Google Shape;614;g3f16c2b774f_3_397"/>
          <p:cNvSpPr/>
          <p:nvPr/>
        </p:nvSpPr>
        <p:spPr>
          <a:xfrm>
            <a:off x="525780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f16c2b774f_3_397"/>
          <p:cNvSpPr/>
          <p:nvPr/>
        </p:nvSpPr>
        <p:spPr>
          <a:xfrm>
            <a:off x="585216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3f16c2b774f_3_397"/>
          <p:cNvSpPr txBox="1"/>
          <p:nvPr/>
        </p:nvSpPr>
        <p:spPr>
          <a:xfrm>
            <a:off x="585216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617" name="Google Shape;617;g3f16c2b774f_3_397"/>
          <p:cNvSpPr txBox="1"/>
          <p:nvPr/>
        </p:nvSpPr>
        <p:spPr>
          <a:xfrm>
            <a:off x="539496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추천</a:t>
            </a:r>
            <a:endParaRPr/>
          </a:p>
        </p:txBody>
      </p:sp>
      <p:sp>
        <p:nvSpPr>
          <p:cNvPr id="618" name="Google Shape;618;g3f16c2b774f_3_397"/>
          <p:cNvSpPr txBox="1"/>
          <p:nvPr/>
        </p:nvSpPr>
        <p:spPr>
          <a:xfrm>
            <a:off x="5413248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재료·스타일 선택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추천 결과 확인</a:t>
            </a:r>
            <a:endParaRPr/>
          </a:p>
        </p:txBody>
      </p:sp>
      <p:sp>
        <p:nvSpPr>
          <p:cNvPr id="619" name="Google Shape;619;g3f16c2b774f_3_397"/>
          <p:cNvSpPr/>
          <p:nvPr/>
        </p:nvSpPr>
        <p:spPr>
          <a:xfrm>
            <a:off x="749808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16c2b774f_3_397"/>
          <p:cNvSpPr/>
          <p:nvPr/>
        </p:nvSpPr>
        <p:spPr>
          <a:xfrm>
            <a:off x="809244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16c2b774f_3_397"/>
          <p:cNvSpPr txBox="1"/>
          <p:nvPr/>
        </p:nvSpPr>
        <p:spPr>
          <a:xfrm>
            <a:off x="809244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622" name="Google Shape;622;g3f16c2b774f_3_397"/>
          <p:cNvSpPr txBox="1"/>
          <p:nvPr/>
        </p:nvSpPr>
        <p:spPr>
          <a:xfrm>
            <a:off x="763524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영양 분석</a:t>
            </a:r>
            <a:endParaRPr/>
          </a:p>
        </p:txBody>
      </p:sp>
      <p:sp>
        <p:nvSpPr>
          <p:cNvPr id="623" name="Google Shape;623;g3f16c2b774f_3_397"/>
          <p:cNvSpPr txBox="1"/>
          <p:nvPr/>
        </p:nvSpPr>
        <p:spPr>
          <a:xfrm>
            <a:off x="7653527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음식명 또는 사진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업로드로 분석</a:t>
            </a:r>
            <a:endParaRPr/>
          </a:p>
        </p:txBody>
      </p:sp>
      <p:sp>
        <p:nvSpPr>
          <p:cNvPr id="624" name="Google Shape;624;g3f16c2b774f_3_397"/>
          <p:cNvSpPr/>
          <p:nvPr/>
        </p:nvSpPr>
        <p:spPr>
          <a:xfrm>
            <a:off x="973836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16c2b774f_3_397"/>
          <p:cNvSpPr/>
          <p:nvPr/>
        </p:nvSpPr>
        <p:spPr>
          <a:xfrm>
            <a:off x="1033272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16c2b774f_3_397"/>
          <p:cNvSpPr txBox="1"/>
          <p:nvPr/>
        </p:nvSpPr>
        <p:spPr>
          <a:xfrm>
            <a:off x="1033272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627" name="Google Shape;627;g3f16c2b774f_3_397"/>
          <p:cNvSpPr txBox="1"/>
          <p:nvPr/>
        </p:nvSpPr>
        <p:spPr>
          <a:xfrm>
            <a:off x="987552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확인</a:t>
            </a:r>
            <a:endParaRPr/>
          </a:p>
        </p:txBody>
      </p:sp>
      <p:sp>
        <p:nvSpPr>
          <p:cNvPr id="628" name="Google Shape;628;g3f16c2b774f_3_397"/>
          <p:cNvSpPr txBox="1"/>
          <p:nvPr/>
        </p:nvSpPr>
        <p:spPr>
          <a:xfrm>
            <a:off x="9893807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 앱에서 같은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데이터 확인</a:t>
            </a:r>
            <a:endParaRPr/>
          </a:p>
        </p:txBody>
      </p:sp>
      <p:sp>
        <p:nvSpPr>
          <p:cNvPr id="629" name="Google Shape;629;g3f16c2b774f_3_397"/>
          <p:cNvSpPr txBox="1"/>
          <p:nvPr/>
        </p:nvSpPr>
        <p:spPr>
          <a:xfrm>
            <a:off x="822960" y="60807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주의: 발표 직전 Render, Supabase, Hugging Face Space 상태를 반드시 확인</a:t>
            </a:r>
            <a:endParaRPr/>
          </a:p>
        </p:txBody>
      </p:sp>
      <p:sp>
        <p:nvSpPr>
          <p:cNvPr id="630" name="Google Shape;630;g3f16c2b774f_3_397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Rectangle 634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2F3EE"/>
                </a:solidFill>
                <a:latin typeface="Malgun Gothic"/>
              </a:rPr>
              <a:t>감사합니다</a:t>
            </a:r>
          </a:p>
        </p:txBody>
      </p:sp>
      <p:sp>
        <p:nvSpPr>
          <p:cNvPr id="637" name="Rectangle 636"/>
          <p:cNvSpPr/>
          <p:nvPr/>
        </p:nvSpPr>
        <p:spPr>
          <a:xfrm>
            <a:off x="5870448" y="4160520"/>
            <a:ext cx="457200" cy="4572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TextBox 637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6AEB8"/>
                </a:solidFill>
                <a:latin typeface="Malgun Gothic"/>
              </a:rPr>
              <a:t>Thank you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A6AEB8"/>
                </a:solidFill>
                <a:latin typeface="Malgun Gothic"/>
              </a:rPr>
              <a:t>냉부해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